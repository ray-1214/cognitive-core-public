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7985455" y="-1280160"/>
            <a:ext cx="5486400" cy="5486400"/>
          </a:xfrm>
          <a:prstGeom prst="ellipse">
            <a:avLst/>
          </a:prstGeom>
          <a:solidFill>
            <a:srgbClr val="16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539935" y="1280160"/>
            <a:ext cx="3108960" cy="3108960"/>
          </a:xfrm>
          <a:prstGeom prst="ellipse">
            <a:avLst/>
          </a:prstGeom>
          <a:solidFill>
            <a:srgbClr val="1B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1560" y="148132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6FC5CC"/>
                </a:solidFill>
                <a:latin typeface="微軟正黑體"/>
              </a:rPr>
              <a:t>專題研究　期中進度報告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74519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Segoe UI Semibold"/>
              </a:rPr>
              <a:t>Cognitive-Core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816352"/>
            <a:ext cx="8778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900" b="0">
                <a:solidFill>
                  <a:srgbClr val="C8D8E0"/>
                </a:solidFill>
                <a:latin typeface="微軟正黑體"/>
              </a:rPr>
              <a:t>基於代理人工作流與多視角語意驗證之自適應認知框架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3767328"/>
            <a:ext cx="2011680" cy="330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51560" y="4041648"/>
            <a:ext cx="9144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300" b="0">
                <a:solidFill>
                  <a:srgbClr val="7F93A2"/>
                </a:solidFill>
                <a:latin typeface="微軟正黑體"/>
              </a:rPr>
              <a:t>開發期間　</a:t>
            </a:r>
            <a:r>
              <a:rPr sz="1300" b="1">
                <a:solidFill>
                  <a:srgbClr val="FFFFFF"/>
                </a:solidFill>
                <a:latin typeface="微軟正黑體"/>
              </a:rPr>
              <a:t>2026-08-09 – 08-17（9 天）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300" b="0">
                <a:solidFill>
                  <a:srgbClr val="7F93A2"/>
                </a:solidFill>
                <a:latin typeface="微軟正黑體"/>
              </a:rPr>
              <a:t>報告日期　</a:t>
            </a:r>
            <a:r>
              <a:rPr sz="1300" b="1">
                <a:solidFill>
                  <a:srgbClr val="FFFFFF"/>
                </a:solidFill>
                <a:latin typeface="微軟正黑體"/>
              </a:rPr>
              <a:t>2026-08-17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300" b="0">
                <a:solidFill>
                  <a:srgbClr val="7F93A2"/>
                </a:solidFill>
                <a:latin typeface="微軟正黑體"/>
              </a:rPr>
              <a:t>報告人　　</a:t>
            </a:r>
            <a:r>
              <a:rPr sz="1300" b="0">
                <a:solidFill>
                  <a:srgbClr val="A8BAC6"/>
                </a:solidFill>
                <a:latin typeface="微軟正黑體"/>
              </a:rPr>
              <a:t>（請填入姓名）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53212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6FC5CC"/>
                </a:solidFill>
                <a:latin typeface="Segoe UI Semibold"/>
              </a:rPr>
              <a:t>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9984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7F93A2"/>
                </a:solidFill>
                <a:latin typeface="微軟正黑體"/>
              </a:rPr>
              <a:t>commits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553212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6FC5CC"/>
                </a:solidFill>
                <a:latin typeface="Segoe UI Semibold"/>
              </a:rPr>
              <a:t>141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59984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7F93A2"/>
                </a:solidFill>
                <a:latin typeface="微軟正黑體"/>
              </a:rPr>
              <a:t>測試全通過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79" y="553212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6FC5CC"/>
                </a:solidFill>
                <a:latin typeface="Segoe UI Semibold"/>
              </a:rPr>
              <a:t>1.5 /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79" y="59984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7F93A2"/>
                </a:solidFill>
                <a:latin typeface="微軟正黑體"/>
              </a:rPr>
              <a:t>階段完成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E7C86"/>
                </a:solidFill>
                <a:latin typeface="微軟正黑體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A2332"/>
                </a:solidFill>
                <a:latin typeface="微軟正黑體"/>
              </a:rPr>
              <a:t>一頁摘要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52144"/>
            <a:ext cx="1371600" cy="330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8368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8E9EAB"/>
                </a:solidFill>
                <a:latin typeface="微軟正黑體"/>
              </a:rPr>
              <a:t>Cognitive-Core ｜ 進度報告 2026-08-17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18927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8E9EAB"/>
                </a:solidFill>
                <a:latin typeface="微軟正黑體"/>
              </a:rP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81328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5F8F9"/>
          </a:solidFill>
          <a:ln w="12700">
            <a:solidFill>
              <a:srgbClr val="DA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58368" y="1481328"/>
            <a:ext cx="50292" cy="13716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6112" y="1627632"/>
            <a:ext cx="2240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E7C86"/>
                </a:solidFill>
                <a:latin typeface="Segoe UI Semibold"/>
              </a:rPr>
              <a:t>9 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39696"/>
            <a:ext cx="2203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2332"/>
                </a:solidFill>
                <a:latin typeface="微軟正黑體"/>
              </a:rPr>
              <a:t>實際開發時間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95728"/>
            <a:ext cx="22037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5A6B7C"/>
                </a:solidFill>
                <a:latin typeface="微軟正黑體"/>
              </a:rPr>
              <a:t>20 次 commit，08/09 起算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47287" y="1481328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5F8F9"/>
          </a:solidFill>
          <a:ln w="12700">
            <a:solidFill>
              <a:srgbClr val="DA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447287" y="1481328"/>
            <a:ext cx="50292" cy="1371600"/>
          </a:xfrm>
          <a:prstGeom prst="rect">
            <a:avLst/>
          </a:prstGeom>
          <a:solidFill>
            <a:srgbClr val="2F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685031" y="1627632"/>
            <a:ext cx="2240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2F7D4F"/>
                </a:solidFill>
                <a:latin typeface="Segoe UI Semibold"/>
              </a:rPr>
              <a:t>141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139696"/>
            <a:ext cx="2203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2332"/>
                </a:solidFill>
                <a:latin typeface="微軟正黑體"/>
              </a:rPr>
              <a:t>項自動化測試全通過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2395728"/>
            <a:ext cx="22037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5A6B7C"/>
                </a:solidFill>
                <a:latin typeface="微軟正黑體"/>
              </a:rPr>
              <a:t>全離線，不呼叫任何 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7" y="1481328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5F8F9"/>
          </a:solidFill>
          <a:ln w="12700">
            <a:solidFill>
              <a:srgbClr val="DA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236207" y="1481328"/>
            <a:ext cx="50292" cy="13716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73951" y="1627632"/>
            <a:ext cx="2240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E7C86"/>
                </a:solidFill>
                <a:latin typeface="Segoe UI Semibold"/>
              </a:rPr>
              <a:t>7,458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139696"/>
            <a:ext cx="2203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2332"/>
                </a:solidFill>
                <a:latin typeface="微軟正黑體"/>
              </a:rPr>
              <a:t>行程式碼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395728"/>
            <a:ext cx="22037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5A6B7C"/>
                </a:solidFill>
                <a:latin typeface="微軟正黑體"/>
              </a:rPr>
              <a:t>src 2097／tests 1256／scripts 4105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25128" y="1481328"/>
            <a:ext cx="2505456" cy="1371600"/>
          </a:xfrm>
          <a:prstGeom prst="roundRect">
            <a:avLst>
              <a:gd name="adj" fmla="val 6000"/>
            </a:avLst>
          </a:prstGeom>
          <a:solidFill>
            <a:srgbClr val="F5F8F9"/>
          </a:solidFill>
          <a:ln w="12700">
            <a:solidFill>
              <a:srgbClr val="DA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9025128" y="1481328"/>
            <a:ext cx="50292" cy="1371600"/>
          </a:xfrm>
          <a:prstGeom prst="rect">
            <a:avLst/>
          </a:prstGeom>
          <a:solidFill>
            <a:srgbClr val="B07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262872" y="1627632"/>
            <a:ext cx="213969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B07212"/>
                </a:solidFill>
                <a:latin typeface="Segoe UI Semibold"/>
              </a:rPr>
              <a:t>1.5 / 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2139696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2332"/>
                </a:solidFill>
                <a:latin typeface="微軟正黑體"/>
              </a:rPr>
              <a:t>階段完成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239572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5A6B7C"/>
                </a:solidFill>
                <a:latin typeface="微軟正黑體"/>
              </a:rPr>
              <a:t>P1 完成、P2 前置驗證完成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172968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A2332"/>
                </a:solidFill>
                <a:latin typeface="微軟正黑體"/>
              </a:rPr>
              <a:t>三句話總結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3575304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E7C86"/>
                </a:solidFill>
                <a:latin typeface="微軟正黑體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3561588"/>
            <a:ext cx="106006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1">
                <a:solidFill>
                  <a:srgbClr val="1A2332"/>
                </a:solidFill>
                <a:latin typeface="微軟正黑體"/>
              </a:rPr>
              <a:t>系統骨架已可端到端執行。　</a:t>
            </a:r>
            <a:r>
              <a:rPr sz="1300" b="0">
                <a:solidFill>
                  <a:srgbClr val="5A6B7C"/>
                </a:solidFill>
                <a:latin typeface="微軟正黑體"/>
              </a:rPr>
              <a:t>LangGraph 狀態機、CLI 三個子命令（run／batch／golden）、四種驗證 profile 走同一條程式碼路徑，重跑結果一致。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14223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E7C86"/>
                </a:solidFill>
                <a:latin typeface="微軟正黑體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4128516"/>
            <a:ext cx="106006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1">
                <a:solidFill>
                  <a:srgbClr val="1A2332"/>
                </a:solidFill>
                <a:latin typeface="微軟正黑體"/>
              </a:rPr>
              <a:t>主資料來源已完成前置驗證。　</a:t>
            </a:r>
            <a:r>
              <a:rPr sz="1300" b="0">
                <a:solidFill>
                  <a:srgbClr val="5A6B7C"/>
                </a:solidFill>
                <a:latin typeface="微軟正黑體"/>
              </a:rPr>
              <a:t>CWN-SemCor（中研院平衡語料庫 + 中文詞網，六位語言學背景母語者標註）確認可用、授權為 MIT，21,098 句可篩。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470916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E7C86"/>
                </a:solidFill>
                <a:latin typeface="微軟正黑體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4695444"/>
            <a:ext cx="106006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1">
                <a:solidFill>
                  <a:srgbClr val="1A2332"/>
                </a:solidFill>
                <a:latin typeface="微軟正黑體"/>
              </a:rPr>
              <a:t>最有價值的產出是一項負面發現。　</a:t>
            </a:r>
            <a:r>
              <a:rPr sz="1300" b="0">
                <a:solidFill>
                  <a:srgbClr val="5A6B7C"/>
                </a:solidFill>
                <a:latin typeface="微軟正黑體"/>
              </a:rPr>
              <a:t>既有中文歧義資料集普遍受「長度混淆」污染——一個只數字數的分類器就能達到 AUC 0.965。此發現推翻了本專案前期的全部量測，也促成資料設計改版。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742432"/>
            <a:ext cx="10874959" cy="566928"/>
          </a:xfrm>
          <a:prstGeom prst="roundRect">
            <a:avLst>
              <a:gd name="adj" fmla="val 6000"/>
            </a:avLst>
          </a:prstGeom>
          <a:solidFill>
            <a:srgbClr val="ECF3F4"/>
          </a:solidFill>
          <a:ln w="12700">
            <a:solidFill>
              <a:srgbClr val="DA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77824" y="5870448"/>
            <a:ext cx="104177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0A4F57"/>
                </a:solidFill>
                <a:latin typeface="微軟正黑體"/>
              </a:rPr>
              <a:t>目前狀態　</a:t>
            </a:r>
            <a:r>
              <a:rPr sz="1200" b="0">
                <a:solidFill>
                  <a:srgbClr val="1A2332"/>
                </a:solidFill>
                <a:latin typeface="微軟正黑體"/>
              </a:rPr>
              <a:t>基礎設施與方法學已就緒，尚未產出主實驗數據。距 10 月截止約 6 週，剩餘 6 個階段皆已有明確規格與完成定義。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E7C86"/>
                </a:solidFill>
                <a:latin typeface="微軟正黑體"/>
              </a:rPr>
              <a:t>RESEARCH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A2332"/>
                </a:solidFill>
                <a:latin typeface="微軟正黑體"/>
              </a:rPr>
              <a:t>研究問題與核心主張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52144"/>
            <a:ext cx="1371600" cy="330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8368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8E9EAB"/>
                </a:solidFill>
                <a:latin typeface="微軟正黑體"/>
              </a:rPr>
              <a:t>Cognitive-Core ｜ 進度報告 2026-08-17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18927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8E9EAB"/>
                </a:solidFill>
                <a:latin typeface="微軟正黑體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81328"/>
            <a:ext cx="10874959" cy="786384"/>
          </a:xfrm>
          <a:prstGeom prst="roundRect">
            <a:avLst>
              <a:gd name="adj" fmla="val 6000"/>
            </a:avLst>
          </a:prstGeom>
          <a:solidFill>
            <a:srgbClr val="EC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58368" y="1481328"/>
            <a:ext cx="50292" cy="78638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1609344"/>
            <a:ext cx="103263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0A4F57"/>
                </a:solidFill>
                <a:latin typeface="微軟正黑體"/>
              </a:rPr>
              <a:t>核心主張：用「系統架構」的設計（System 2 Thinking），而非單純堆疊模型算力，來提升 AI 的理解精確度。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450592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5A6B7C"/>
                </a:solidFill>
                <a:latin typeface="微軟正黑體"/>
              </a:rPr>
              <a:t>作法：把中文的模糊處翻譯成語法上必須講清楚的語言（日文強制敬語階層、英文強制時態與單複數），再從多語言視角回譯比對。哪裡對不上，哪裡就是原文的歧義點。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58368" y="3054096"/>
          <a:ext cx="10874956" cy="21031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92042"/>
                <a:gridCol w="3163624"/>
                <a:gridCol w="5536342"/>
                <a:gridCol w="1482948"/>
              </a:tblGrid>
              <a:tr h="40233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RQ</a:t>
                      </a:r>
                    </a:p>
                  </a:txBody>
                  <a:tcPr anchor="ctr" marL="100584" marR="73152" marT="27432" marB="27432">
                    <a:solidFill>
                      <a:srgbClr val="0A4F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計畫書原文</a:t>
                      </a:r>
                    </a:p>
                  </a:txBody>
                  <a:tcPr anchor="ctr" marL="100584" marR="73152" marT="27432" marB="27432">
                    <a:solidFill>
                      <a:srgbClr val="0A4F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本階段確立的操作型定義</a:t>
                      </a:r>
                    </a:p>
                  </a:txBody>
                  <a:tcPr anchor="ctr" marL="100584" marR="73152" marT="27432" marB="27432">
                    <a:solidFill>
                      <a:srgbClr val="0A4F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狀態</a:t>
                      </a:r>
                    </a:p>
                  </a:txBody>
                  <a:tcPr anchor="ctr" marL="100584" marR="73152" marT="27432" marB="27432">
                    <a:solidFill>
                      <a:srgbClr val="0A4F5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2332"/>
                          </a:solidFill>
                          <a:latin typeface="微軟正黑體"/>
                        </a:rPr>
                        <a:t>RQ1</a:t>
                      </a:r>
                    </a:p>
                  </a:txBody>
                  <a:tcPr anchor="ctr" marL="100584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2332"/>
                          </a:solidFill>
                          <a:latin typeface="微軟正黑體"/>
                        </a:rPr>
                        <a:t>模型如何知道自己「沒聽懂」？</a:t>
                      </a:r>
                    </a:p>
                  </a:txBody>
                  <a:tcPr anchor="ctr" marL="100584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2332"/>
                          </a:solidFill>
                          <a:latin typeface="微軟正黑體"/>
                        </a:rPr>
                        <a:t>能否預測模型在翻譯時會選錯詞義（客觀、可自動判定）</a:t>
                      </a:r>
                    </a:p>
                  </a:txBody>
                  <a:tcPr anchor="ctr" marL="100584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2332"/>
                          </a:solidFill>
                          <a:latin typeface="微軟正黑體"/>
                        </a:rPr>
                        <a:t>方法已定案</a:t>
                      </a:r>
                    </a:p>
                  </a:txBody>
                  <a:tcPr anchor="ctr" marL="100584" marR="73152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2332"/>
                          </a:solidFill>
                          <a:latin typeface="微軟正黑體"/>
                        </a:rPr>
                        <a:t>RQ2</a:t>
                      </a:r>
                    </a:p>
                  </a:txBody>
                  <a:tcPr anchor="ctr" marL="100584" marR="73152" marT="27432" marB="27432">
                    <a:solidFill>
                      <a:srgbClr val="F5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2332"/>
                          </a:solidFill>
                          <a:latin typeface="微軟正黑體"/>
                        </a:rPr>
                        <a:t>Router 如何讓簡單問題走快速通道？</a:t>
                      </a:r>
                    </a:p>
                  </a:txBody>
                  <a:tcPr anchor="ctr" marL="100584" marR="73152" marT="27432" marB="27432">
                    <a:solidFill>
                      <a:srgbClr val="F5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2332"/>
                          </a:solidFill>
                          <a:latin typeface="微軟正黑體"/>
                        </a:rPr>
                        <a:t>成本–準確度前緣曲線上，本系統是否位於等算力對照組上方</a:t>
                      </a:r>
                    </a:p>
                  </a:txBody>
                  <a:tcPr anchor="ctr" marL="100584" marR="73152" marT="27432" marB="27432">
                    <a:solidFill>
                      <a:srgbClr val="F5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2332"/>
                          </a:solidFill>
                          <a:latin typeface="微軟正黑體"/>
                        </a:rPr>
                        <a:t>待 P5</a:t>
                      </a:r>
                    </a:p>
                  </a:txBody>
                  <a:tcPr anchor="ctr" marL="100584" marR="73152" marT="27432" marB="27432">
                    <a:solidFill>
                      <a:srgbClr val="F5F8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2332"/>
                          </a:solidFill>
                          <a:latin typeface="微軟正黑體"/>
                        </a:rPr>
                        <a:t>RQ3</a:t>
                      </a:r>
                    </a:p>
                  </a:txBody>
                  <a:tcPr anchor="ctr" marL="100584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2332"/>
                          </a:solidFill>
                          <a:latin typeface="微軟正黑體"/>
                        </a:rPr>
                        <a:t>RAG + 滑動視窗如何避免 Lost in the Middle？</a:t>
                      </a:r>
                    </a:p>
                  </a:txBody>
                  <a:tcPr anchor="ctr" marL="100584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2332"/>
                          </a:solidFill>
                          <a:latin typeface="微軟正黑體"/>
                        </a:rPr>
                        <a:t>有無記憶模組的中段召回率對照（降級為初步驗證）</a:t>
                      </a:r>
                    </a:p>
                  </a:txBody>
                  <a:tcPr anchor="ctr" marL="100584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2332"/>
                          </a:solidFill>
                          <a:latin typeface="微軟正黑體"/>
                        </a:rPr>
                        <a:t>待 P7</a:t>
                      </a:r>
                    </a:p>
                  </a:txBody>
                  <a:tcPr anchor="ctr" marL="100584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58368" y="5687568"/>
            <a:ext cx="10874959" cy="621792"/>
          </a:xfrm>
          <a:prstGeom prst="roundRect">
            <a:avLst>
              <a:gd name="adj" fmla="val 6000"/>
            </a:avLst>
          </a:prstGeom>
          <a:solidFill>
            <a:srgbClr val="FDF6E9"/>
          </a:solidFill>
          <a:ln w="12700">
            <a:solidFill>
              <a:srgbClr val="EBD9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77824" y="5797296"/>
            <a:ext cx="104177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B07212"/>
                </a:solidFill>
                <a:latin typeface="微軟正黑體"/>
              </a:rPr>
              <a:t>RQ1 為何改寫　</a:t>
            </a:r>
            <a:r>
              <a:rPr sz="1150" b="0">
                <a:solidFill>
                  <a:srgbClr val="1A2332"/>
                </a:solidFill>
                <a:latin typeface="微軟正黑體"/>
              </a:rPr>
              <a:t>「這句話歧不歧義」是主觀標籤，連 CHAmbi、Wu et al. 的原作者都聲明其標註目標是與人類判斷對齊，而非定義唯一正解；「模型有沒有選錯詞義」則是客觀的，且直接就是下游損害本身。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E7C86"/>
                </a:solidFill>
                <a:latin typeface="微軟正黑體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A2332"/>
                </a:solidFill>
                <a:latin typeface="微軟正黑體"/>
              </a:rPr>
              <a:t>系統架構與各模組實作狀態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52144"/>
            <a:ext cx="1371600" cy="330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8368" y="1207008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A6B7C"/>
                </a:solidFill>
                <a:latin typeface="微軟正黑體"/>
              </a:rPr>
              <a:t>四個模組，兩條通道。慢速通道才付多視角驗證的成本。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8E9EAB"/>
                </a:solidFill>
                <a:latin typeface="微軟正黑體"/>
              </a:rPr>
              <a:t>Cognitive-Core ｜ 進度報告 2026-08-17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18927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8E9EAB"/>
                </a:solidFill>
                <a:latin typeface="微軟正黑體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807208"/>
            <a:ext cx="118872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A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3145536"/>
            <a:ext cx="1042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</a:pPr>
            <a:r>
              <a:rPr sz="1200" b="1">
                <a:solidFill>
                  <a:srgbClr val="1A2332"/>
                </a:solidFill>
                <a:latin typeface="微軟正黑體"/>
              </a:rPr>
              <a:t>使用者
輸入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901952" y="3305556"/>
            <a:ext cx="274320" cy="146304"/>
          </a:xfrm>
          <a:prstGeom prst="rightArrow">
            <a:avLst/>
          </a:prstGeom>
          <a:solidFill>
            <a:srgbClr val="B7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2240280" y="2532888"/>
            <a:ext cx="2514600" cy="1691640"/>
          </a:xfrm>
          <a:prstGeom prst="roundRect">
            <a:avLst>
              <a:gd name="adj" fmla="val 6000"/>
            </a:avLst>
          </a:prstGeom>
          <a:solidFill>
            <a:srgbClr val="F5F8F9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386584" y="2670048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A4F57"/>
                </a:solidFill>
                <a:latin typeface="微軟正黑體"/>
              </a:rPr>
              <a:t>① Semantic Router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86584" y="2980944"/>
            <a:ext cx="226771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A6B7C"/>
                </a:solidFill>
                <a:latin typeface="微軟正黑體"/>
              </a:rPr>
              <a:t>S1–S7 訊號 → 歧義分數
分數 &lt; τ 走快速通道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86584" y="3639312"/>
            <a:ext cx="2212848" cy="256032"/>
          </a:xfrm>
          <a:prstGeom prst="roundRect">
            <a:avLst>
              <a:gd name="adj" fmla="val 50000"/>
            </a:avLst>
          </a:prstGeom>
          <a:solidFill>
            <a:srgbClr val="B07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微軟正黑體"/>
              </a:rPr>
              <a:t>目前為固定樁 · P5 實作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09744" y="2139696"/>
            <a:ext cx="310896" cy="137160"/>
          </a:xfrm>
          <a:prstGeom prst="rightArrow">
            <a:avLst/>
          </a:prstGeom>
          <a:solidFill>
            <a:srgbClr val="B7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ight Arrow 15"/>
          <p:cNvSpPr/>
          <p:nvPr/>
        </p:nvSpPr>
        <p:spPr>
          <a:xfrm>
            <a:off x="4809744" y="3858768"/>
            <a:ext cx="310896" cy="137160"/>
          </a:xfrm>
          <a:prstGeom prst="rightArrow">
            <a:avLst/>
          </a:prstGeom>
          <a:solidFill>
            <a:srgbClr val="B7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5175504" y="1755648"/>
            <a:ext cx="36118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A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358384" y="1892807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1">
                <a:solidFill>
                  <a:srgbClr val="2F7D4F"/>
                </a:solidFill>
                <a:latin typeface="微軟正黑體"/>
              </a:rPr>
              <a:t>快速通道　</a:t>
            </a:r>
            <a:r>
              <a:rPr sz="1150" b="0">
                <a:solidFill>
                  <a:srgbClr val="5A6B7C"/>
                </a:solidFill>
                <a:latin typeface="微軟正黑體"/>
              </a:rPr>
              <a:t>直接翻譯，1× 推論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58384" y="2231136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2F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微軟正黑體"/>
              </a:rPr>
              <a:t>已實作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75504" y="2871216"/>
            <a:ext cx="3611880" cy="2121408"/>
          </a:xfrm>
          <a:prstGeom prst="roundRect">
            <a:avLst>
              <a:gd name="adj" fmla="val 6000"/>
            </a:avLst>
          </a:prstGeom>
          <a:solidFill>
            <a:srgbClr val="F5F8F9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58384" y="2980944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A4F57"/>
                </a:solidFill>
                <a:latin typeface="微軟正黑體"/>
              </a:rPr>
              <a:t>慢速通道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8384" y="3291840"/>
            <a:ext cx="334670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1A2332"/>
                </a:solidFill>
                <a:latin typeface="微軟正黑體"/>
              </a:rPr>
              <a:t>② Multi-View Verifier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A6B7C"/>
                </a:solidFill>
                <a:latin typeface="微軟正黑體"/>
              </a:rPr>
              <a:t>　　偵測：單探針往返保真度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1A2332"/>
                </a:solidFill>
                <a:latin typeface="微軟正黑體"/>
              </a:rPr>
              <a:t>③ Reflection Agent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A6B7C"/>
                </a:solidFill>
                <a:latin typeface="微軟正黑體"/>
              </a:rPr>
              <a:t>　　診斷：多視角差異定位 → 修錨點，迴圈 ≤ 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58384" y="4462272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2F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微軟正黑體"/>
              </a:rPr>
              <a:t>已實作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82512" y="4462272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微軟正黑體"/>
              </a:rPr>
              <a:t>四 profile 走同一路徑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842248" y="3305556"/>
            <a:ext cx="274320" cy="146304"/>
          </a:xfrm>
          <a:prstGeom prst="rightArrow">
            <a:avLst/>
          </a:prstGeom>
          <a:solidFill>
            <a:srgbClr val="B7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9180576" y="2624328"/>
            <a:ext cx="23500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A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345168" y="2761488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2332"/>
                </a:solidFill>
                <a:latin typeface="微軟正黑體"/>
              </a:rPr>
              <a:t>④ Dynamic Memory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45168" y="3072384"/>
            <a:ext cx="2121408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A6B7C"/>
                </a:solidFill>
                <a:latin typeface="微軟正黑體"/>
              </a:rPr>
              <a:t>ChromaDB 向量檢索
＋ 滾動摘要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45168" y="3694176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8A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微軟正黑體"/>
              </a:rPr>
              <a:t>未開始 · P7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5157216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A6B7C"/>
                </a:solidFill>
                <a:latin typeface="微軟正黑體"/>
              </a:rPr>
              <a:t>輸出：譯文　＋　結構化決策摘要　＋　不確定性報告（顯示決策記錄，不揭露模型原始推理文字）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705856"/>
            <a:ext cx="10874959" cy="603504"/>
          </a:xfrm>
          <a:prstGeom prst="roundRect">
            <a:avLst>
              <a:gd name="adj" fmla="val 6000"/>
            </a:avLst>
          </a:prstGeom>
          <a:solidFill>
            <a:srgbClr val="ECF3F4"/>
          </a:solidFill>
          <a:ln w="12700">
            <a:solidFill>
              <a:srgbClr val="DA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77824" y="5815584"/>
            <a:ext cx="10417759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>
                <a:solidFill>
                  <a:srgbClr val="0A4F57"/>
                </a:solidFill>
                <a:latin typeface="微軟正黑體"/>
              </a:rPr>
              <a:t>本階段的架構修正　</a:t>
            </a:r>
            <a:r>
              <a:rPr sz="1150" b="0">
                <a:solidFill>
                  <a:srgbClr val="1A2332"/>
                </a:solidFill>
                <a:latin typeface="微軟正黑體"/>
              </a:rPr>
              <a:t>原設計把最貴的操作（多視角平行翻譯）放在偵測階段，等於每句都付診斷成本。改為「偵測／診斷分離」：偵測用單探針往返（1 翻 + 1 回譯），多視角只在慢速通道做診斷。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E7C86"/>
                </a:solidFill>
                <a:latin typeface="微軟正黑體"/>
              </a:rPr>
              <a:t>PROGRESS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A2332"/>
                </a:solidFill>
                <a:latin typeface="微軟正黑體"/>
              </a:rPr>
              <a:t>八階段進度總覽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52144"/>
            <a:ext cx="1371600" cy="330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8368" y="1207008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A6B7C"/>
                </a:solidFill>
                <a:latin typeface="微軟正黑體"/>
              </a:rPr>
              <a:t>實作路徑於 08/14 定案（docs/完整架構與分階段實作路徑 v3），每階段皆有完成定義（DoD）。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8E9EAB"/>
                </a:solidFill>
                <a:latin typeface="微軟正黑體"/>
              </a:rPr>
              <a:t>Cognitive-Core ｜ 進度報告 2026-08-17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18927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8E9EAB"/>
                </a:solidFill>
                <a:latin typeface="微軟正黑體"/>
              </a:rPr>
              <a:t>04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755648"/>
          <a:ext cx="10874957" cy="360273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59643"/>
                <a:gridCol w="4489241"/>
                <a:gridCol w="3206601"/>
                <a:gridCol w="778746"/>
                <a:gridCol w="1740726"/>
              </a:tblGrid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階段</a:t>
                      </a:r>
                    </a:p>
                  </a:txBody>
                  <a:tcPr anchor="ctr" marL="100584" marR="73152" marT="27432" marB="27432">
                    <a:solidFill>
                      <a:srgbClr val="0A4F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內容</a:t>
                      </a:r>
                    </a:p>
                  </a:txBody>
                  <a:tcPr anchor="ctr" marL="100584" marR="73152" marT="27432" marB="27432">
                    <a:solidFill>
                      <a:srgbClr val="0A4F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產出</a:t>
                      </a:r>
                    </a:p>
                  </a:txBody>
                  <a:tcPr anchor="ctr" marL="100584" marR="73152" marT="27432" marB="27432">
                    <a:solidFill>
                      <a:srgbClr val="0A4F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估時</a:t>
                      </a:r>
                    </a:p>
                  </a:txBody>
                  <a:tcPr anchor="ctr" marL="100584" marR="73152" marT="27432" marB="27432">
                    <a:solidFill>
                      <a:srgbClr val="0A4F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狀態</a:t>
                      </a:r>
                    </a:p>
                  </a:txBody>
                  <a:tcPr anchor="ctr" marL="100584" marR="73152" marT="27432" marB="27432">
                    <a:solidFill>
                      <a:srgbClr val="0A4F5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2332"/>
                          </a:solidFill>
                          <a:latin typeface="微軟正黑體"/>
                        </a:rPr>
                        <a:t>P1</a:t>
                      </a:r>
                    </a:p>
                  </a:txBody>
                  <a:tcPr anchor="ctr" marL="100584" marR="73152" marT="27432" marB="27432">
                    <a:solidFill>
                      <a:srgbClr val="EC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2332"/>
                          </a:solidFill>
                          <a:latin typeface="微軟正黑體"/>
                        </a:rPr>
                        <a:t>管線收尾（狀態機、CLI、取樣自適應）</a:t>
                      </a:r>
                    </a:p>
                  </a:txBody>
                  <a:tcPr anchor="ctr" marL="100584" marR="73152" marT="27432" marB="27432">
                    <a:solidFill>
                      <a:srgbClr val="EC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2332"/>
                          </a:solidFill>
                          <a:latin typeface="微軟正黑體"/>
                        </a:rPr>
                        <a:t>CLI 可跑單句／批次／黃金案例</a:t>
                      </a:r>
                    </a:p>
                  </a:txBody>
                  <a:tcPr anchor="ctr" marL="100584" marR="73152" marT="27432" marB="27432">
                    <a:solidFill>
                      <a:srgbClr val="EC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2332"/>
                          </a:solidFill>
                          <a:latin typeface="微軟正黑體"/>
                        </a:rPr>
                        <a:t>半天</a:t>
                      </a:r>
                    </a:p>
                  </a:txBody>
                  <a:tcPr anchor="ctr" marL="100584" marR="73152" marT="27432" marB="27432">
                    <a:solidFill>
                      <a:srgbClr val="EC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2F7D4F"/>
                          </a:solidFill>
                          <a:latin typeface="微軟正黑體"/>
                        </a:rPr>
                        <a:t>● 完成</a:t>
                      </a:r>
                    </a:p>
                  </a:txBody>
                  <a:tcPr anchor="ctr" marL="100584" marR="73152" marT="27432" marB="27432">
                    <a:solidFill>
                      <a:srgbClr val="ECF6F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2332"/>
                          </a:solidFill>
                          <a:latin typeface="微軟正黑體"/>
                        </a:rPr>
                        <a:t>P2</a:t>
                      </a:r>
                    </a:p>
                  </a:txBody>
                  <a:tcPr anchor="ctr" marL="100584" marR="73152" marT="27432" marB="27432">
                    <a:solidFill>
                      <a:srgbClr val="FDF6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2332"/>
                          </a:solidFill>
                          <a:latin typeface="微軟正黑體"/>
                        </a:rPr>
                        <a:t>資料層：脈絡恆等 U/A/B 三元組</a:t>
                      </a:r>
                    </a:p>
                  </a:txBody>
                  <a:tcPr anchor="ctr" marL="100584" marR="73152" marT="27432" marB="27432">
                    <a:solidFill>
                      <a:srgbClr val="FDF6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2332"/>
                          </a:solidFill>
                          <a:latin typeface="微軟正黑體"/>
                        </a:rPr>
                        <a:t>≥40 筆通過快篩的三元組</a:t>
                      </a:r>
                    </a:p>
                  </a:txBody>
                  <a:tcPr anchor="ctr" marL="100584" marR="73152" marT="27432" marB="27432">
                    <a:solidFill>
                      <a:srgbClr val="FDF6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2332"/>
                          </a:solidFill>
                          <a:latin typeface="微軟正黑體"/>
                        </a:rPr>
                        <a:t>1.5 天</a:t>
                      </a:r>
                    </a:p>
                  </a:txBody>
                  <a:tcPr anchor="ctr" marL="100584" marR="73152" marT="27432" marB="27432">
                    <a:solidFill>
                      <a:srgbClr val="FDF6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B07212"/>
                          </a:solidFill>
                          <a:latin typeface="微軟正黑體"/>
                        </a:rPr>
                        <a:t>● 前置驗證完成</a:t>
                      </a:r>
                    </a:p>
                  </a:txBody>
                  <a:tcPr anchor="ctr" marL="100584" marR="73152" marT="27432" marB="27432">
                    <a:solidFill>
                      <a:srgbClr val="FDF6E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2332"/>
                          </a:solidFill>
                          <a:latin typeface="微軟正黑體"/>
                        </a:rPr>
                        <a:t>P3</a:t>
                      </a:r>
                    </a:p>
                  </a:txBody>
                  <a:tcPr anchor="ctr" marL="100584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2332"/>
                          </a:solidFill>
                          <a:latin typeface="微軟正黑體"/>
                        </a:rPr>
                        <a:t>判定層 sense_judge（主指標的基礎）</a:t>
                      </a:r>
                    </a:p>
                  </a:txBody>
                  <a:tcPr anchor="ctr" marL="100584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2332"/>
                          </a:solidFill>
                          <a:latin typeface="微軟正黑體"/>
                        </a:rPr>
                        <a:t>與人工一致率 ≥ 85%</a:t>
                      </a:r>
                    </a:p>
                  </a:txBody>
                  <a:tcPr anchor="ctr" marL="100584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2332"/>
                          </a:solidFill>
                          <a:latin typeface="微軟正黑體"/>
                        </a:rPr>
                        <a:t>半天</a:t>
                      </a:r>
                    </a:p>
                  </a:txBody>
                  <a:tcPr anchor="ctr" marL="100584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8A9AA8"/>
                          </a:solidFill>
                          <a:latin typeface="微軟正黑體"/>
                        </a:rPr>
                        <a:t>○ 未開始</a:t>
                      </a:r>
                    </a:p>
                  </a:txBody>
                  <a:tcPr anchor="ctr" marL="100584" marR="73152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2332"/>
                          </a:solidFill>
                          <a:latin typeface="微軟正黑體"/>
                        </a:rPr>
                        <a:t>P4</a:t>
                      </a:r>
                    </a:p>
                  </a:txBody>
                  <a:tcPr anchor="ctr" marL="100584" marR="73152" marT="27432" marB="27432">
                    <a:solidFill>
                      <a:srgbClr val="F5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2332"/>
                          </a:solidFill>
                          <a:latin typeface="微軟正黑體"/>
                        </a:rPr>
                        <a:t>訊號層：八個偵測訊號各自的 AUC</a:t>
                      </a:r>
                    </a:p>
                  </a:txBody>
                  <a:tcPr anchor="ctr" marL="100584" marR="73152" marT="27432" marB="27432">
                    <a:solidFill>
                      <a:srgbClr val="F5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2332"/>
                          </a:solidFill>
                          <a:latin typeface="微軟正黑體"/>
                        </a:rPr>
                        <a:t>RQ1 的答案</a:t>
                      </a:r>
                    </a:p>
                  </a:txBody>
                  <a:tcPr anchor="ctr" marL="100584" marR="73152" marT="27432" marB="27432">
                    <a:solidFill>
                      <a:srgbClr val="F5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2332"/>
                          </a:solidFill>
                          <a:latin typeface="微軟正黑體"/>
                        </a:rPr>
                        <a:t>1 天</a:t>
                      </a:r>
                    </a:p>
                  </a:txBody>
                  <a:tcPr anchor="ctr" marL="100584" marR="73152" marT="27432" marB="27432">
                    <a:solidFill>
                      <a:srgbClr val="F5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8A9AA8"/>
                          </a:solidFill>
                          <a:latin typeface="微軟正黑體"/>
                        </a:rPr>
                        <a:t>○ 未開始</a:t>
                      </a:r>
                    </a:p>
                  </a:txBody>
                  <a:tcPr anchor="ctr" marL="100584" marR="73152" marT="27432" marB="27432">
                    <a:solidFill>
                      <a:srgbClr val="F5F8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2332"/>
                          </a:solidFill>
                          <a:latin typeface="微軟正黑體"/>
                        </a:rPr>
                        <a:t>P5</a:t>
                      </a:r>
                    </a:p>
                  </a:txBody>
                  <a:tcPr anchor="ctr" marL="100584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2332"/>
                          </a:solidFill>
                          <a:latin typeface="微軟正黑體"/>
                        </a:rPr>
                        <a:t>Router：成本–準確度前緣曲線</a:t>
                      </a:r>
                    </a:p>
                  </a:txBody>
                  <a:tcPr anchor="ctr" marL="100584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2332"/>
                          </a:solidFill>
                          <a:latin typeface="微軟正黑體"/>
                        </a:rPr>
                        <a:t>RQ2 的答案</a:t>
                      </a:r>
                    </a:p>
                  </a:txBody>
                  <a:tcPr anchor="ctr" marL="100584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2332"/>
                          </a:solidFill>
                          <a:latin typeface="微軟正黑體"/>
                        </a:rPr>
                        <a:t>半天</a:t>
                      </a:r>
                    </a:p>
                  </a:txBody>
                  <a:tcPr anchor="ctr" marL="100584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8A9AA8"/>
                          </a:solidFill>
                          <a:latin typeface="微軟正黑體"/>
                        </a:rPr>
                        <a:t>○ 未開始</a:t>
                      </a:r>
                    </a:p>
                  </a:txBody>
                  <a:tcPr anchor="ctr" marL="100584" marR="73152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2332"/>
                          </a:solidFill>
                          <a:latin typeface="微軟正黑體"/>
                        </a:rPr>
                        <a:t>P6</a:t>
                      </a:r>
                    </a:p>
                  </a:txBody>
                  <a:tcPr anchor="ctr" marL="100584" marR="73152" marT="27432" marB="27432">
                    <a:solidFill>
                      <a:srgbClr val="F5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2332"/>
                          </a:solidFill>
                          <a:latin typeface="微軟正黑體"/>
                        </a:rPr>
                        <a:t>主實驗：全對照組 B0/B1/B2/B3 vs E1</a:t>
                      </a:r>
                    </a:p>
                  </a:txBody>
                  <a:tcPr anchor="ctr" marL="100584" marR="73152" marT="27432" marB="27432">
                    <a:solidFill>
                      <a:srgbClr val="F5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2332"/>
                          </a:solidFill>
                          <a:latin typeface="微軟正黑體"/>
                        </a:rPr>
                        <a:t>主表 + 三張圖</a:t>
                      </a:r>
                    </a:p>
                  </a:txBody>
                  <a:tcPr anchor="ctr" marL="100584" marR="73152" marT="27432" marB="27432">
                    <a:solidFill>
                      <a:srgbClr val="F5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2332"/>
                          </a:solidFill>
                          <a:latin typeface="微軟正黑體"/>
                        </a:rPr>
                        <a:t>1 天</a:t>
                      </a:r>
                    </a:p>
                  </a:txBody>
                  <a:tcPr anchor="ctr" marL="100584" marR="73152" marT="27432" marB="27432">
                    <a:solidFill>
                      <a:srgbClr val="F5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8A9AA8"/>
                          </a:solidFill>
                          <a:latin typeface="微軟正黑體"/>
                        </a:rPr>
                        <a:t>○ 未開始</a:t>
                      </a:r>
                    </a:p>
                  </a:txBody>
                  <a:tcPr anchor="ctr" marL="100584" marR="73152" marT="27432" marB="27432">
                    <a:solidFill>
                      <a:srgbClr val="F5F8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2332"/>
                          </a:solidFill>
                          <a:latin typeface="微軟正黑體"/>
                        </a:rPr>
                        <a:t>P7</a:t>
                      </a:r>
                    </a:p>
                  </a:txBody>
                  <a:tcPr anchor="ctr" marL="100584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2332"/>
                          </a:solidFill>
                          <a:latin typeface="微軟正黑體"/>
                        </a:rPr>
                        <a:t>Demo 介面 + 記憶模組（RQ3）</a:t>
                      </a:r>
                    </a:p>
                  </a:txBody>
                  <a:tcPr anchor="ctr" marL="100584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2332"/>
                          </a:solidFill>
                          <a:latin typeface="微軟正黑體"/>
                        </a:rPr>
                        <a:t>Streamlit + 召回率曲線</a:t>
                      </a:r>
                    </a:p>
                  </a:txBody>
                  <a:tcPr anchor="ctr" marL="100584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2332"/>
                          </a:solidFill>
                          <a:latin typeface="微軟正黑體"/>
                        </a:rPr>
                        <a:t>1 天</a:t>
                      </a:r>
                    </a:p>
                  </a:txBody>
                  <a:tcPr anchor="ctr" marL="100584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8A9AA8"/>
                          </a:solidFill>
                          <a:latin typeface="微軟正黑體"/>
                        </a:rPr>
                        <a:t>○ 未開始</a:t>
                      </a:r>
                    </a:p>
                  </a:txBody>
                  <a:tcPr anchor="ctr" marL="100584" marR="73152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2332"/>
                          </a:solidFill>
                          <a:latin typeface="微軟正黑體"/>
                        </a:rPr>
                        <a:t>P8</a:t>
                      </a:r>
                    </a:p>
                  </a:txBody>
                  <a:tcPr anchor="ctr" marL="100584" marR="73152" marT="27432" marB="27432">
                    <a:solidFill>
                      <a:srgbClr val="F5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2332"/>
                          </a:solidFill>
                          <a:latin typeface="微軟正黑體"/>
                        </a:rPr>
                        <a:t>技術報告與打包</a:t>
                      </a:r>
                    </a:p>
                  </a:txBody>
                  <a:tcPr anchor="ctr" marL="100584" marR="73152" marT="27432" marB="27432">
                    <a:solidFill>
                      <a:srgbClr val="F5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2332"/>
                          </a:solidFill>
                          <a:latin typeface="微軟正黑體"/>
                        </a:rPr>
                        <a:t>20–30 頁報告、可重現封包</a:t>
                      </a:r>
                    </a:p>
                  </a:txBody>
                  <a:tcPr anchor="ctr" marL="100584" marR="73152" marT="27432" marB="27432">
                    <a:solidFill>
                      <a:srgbClr val="F5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2332"/>
                          </a:solidFill>
                          <a:latin typeface="微軟正黑體"/>
                        </a:rPr>
                        <a:t>1 週</a:t>
                      </a:r>
                    </a:p>
                  </a:txBody>
                  <a:tcPr anchor="ctr" marL="100584" marR="73152" marT="27432" marB="27432">
                    <a:solidFill>
                      <a:srgbClr val="F5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8A9AA8"/>
                          </a:solidFill>
                          <a:latin typeface="微軟正黑體"/>
                        </a:rPr>
                        <a:t>○ 未開始</a:t>
                      </a:r>
                    </a:p>
                  </a:txBody>
                  <a:tcPr anchor="ctr" marL="100584" marR="73152" marT="27432" marB="27432"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5815584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1">
                <a:solidFill>
                  <a:srgbClr val="1A2332"/>
                </a:solidFill>
                <a:latin typeface="微軟正黑體"/>
              </a:rPr>
              <a:t>為什麼前八天沒有進到 P2 之後：</a:t>
            </a:r>
            <a:r>
              <a:rPr sz="1150" b="0">
                <a:solidFill>
                  <a:srgbClr val="5A6B7C"/>
                </a:solidFill>
                <a:latin typeface="微軟正黑體"/>
              </a:rPr>
              <a:t>架構在 08/13–08/14 兩度被自己的實驗推翻——長度混淆推翻了跨語言訊號的全部數字，CWN-SemCor 的發現推翻了整個資料層設計。在那之前寫規格書等於白寫。兩件事定案後，剩餘六階段的規格才一次寫完。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E7C86"/>
                </a:solidFill>
                <a:latin typeface="微軟正黑體"/>
              </a:rPr>
              <a:t>DELIVERED · P1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A2332"/>
                </a:solidFill>
                <a:latin typeface="微軟正黑體"/>
              </a:rPr>
              <a:t>已完成（一）：基礎設施與執行管線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52144"/>
            <a:ext cx="1371600" cy="330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8368" y="1207008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A6B7C"/>
                </a:solidFill>
                <a:latin typeface="微軟正黑體"/>
              </a:rPr>
              <a:t>M0 基礎設施 + Phase A 演算法骨架 + P1 離線測試，DoD 全數達成。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8E9EAB"/>
                </a:solidFill>
                <a:latin typeface="微軟正黑體"/>
              </a:rPr>
              <a:t>Cognitive-Core ｜ 進度報告 2026-08-17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18927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8E9EAB"/>
                </a:solidFill>
                <a:latin typeface="微軟正黑體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7276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A2332"/>
                </a:solidFill>
                <a:latin typeface="微軟正黑體"/>
              </a:rPr>
              <a:t>本階段交付的元件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93852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E7C86"/>
                </a:solidFill>
                <a:latin typeface="微軟正黑體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24812"/>
            <a:ext cx="566928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00" b="1">
                <a:solidFill>
                  <a:srgbClr val="1A2332"/>
                </a:solidFill>
                <a:latin typeface="微軟正黑體"/>
              </a:rPr>
              <a:t>Provider 抽象層　</a:t>
            </a:r>
            <a:r>
              <a:rPr sz="1200" b="0">
                <a:solidFill>
                  <a:srgbClr val="5A6B7C"/>
                </a:solidFill>
                <a:latin typeface="微軟正黑體"/>
              </a:rPr>
              <a:t>改用 litellm 取代自寫的四家 SDK adapter；統一快取、重試、成本追蹤。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51460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E7C86"/>
                </a:solidFill>
                <a:latin typeface="微軟正黑體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500884"/>
            <a:ext cx="566928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00" b="1">
                <a:solidFill>
                  <a:srgbClr val="1A2332"/>
                </a:solidFill>
                <a:latin typeface="微軟正黑體"/>
              </a:rPr>
              <a:t>LangGraph 狀態機　</a:t>
            </a:r>
            <a:r>
              <a:rPr sz="1200" b="0">
                <a:solidFill>
                  <a:srgbClr val="5A6B7C"/>
                </a:solidFill>
                <a:latin typeface="微軟正黑體"/>
              </a:rPr>
              <a:t>astream_events 可用（P7 的串流介面需要）；source_text 全程不可變。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09067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E7C86"/>
                </a:solidFill>
                <a:latin typeface="微軟正黑體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076956"/>
            <a:ext cx="566928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00" b="1">
                <a:solidFill>
                  <a:srgbClr val="1A2332"/>
                </a:solidFill>
                <a:latin typeface="微軟正黑體"/>
              </a:rPr>
              <a:t>四種驗證 profile　</a:t>
            </a:r>
            <a:r>
              <a:rPr sz="1200" b="0">
                <a:solidFill>
                  <a:srgbClr val="5A6B7C"/>
                </a:solidFill>
                <a:latin typeface="微軟正黑體"/>
              </a:rPr>
              <a:t>跨語言 en+ja／換語言對 en+de／同語言重取樣／單探針，同一條程式碼路徑的不同設定，不是四份實作。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666744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E7C86"/>
                </a:solidFill>
                <a:latin typeface="微軟正黑體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653027"/>
            <a:ext cx="566928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00" b="1">
                <a:solidFill>
                  <a:srgbClr val="1A2332"/>
                </a:solidFill>
                <a:latin typeface="微軟正黑體"/>
              </a:rPr>
              <a:t>反思代理人　</a:t>
            </a:r>
            <a:r>
              <a:rPr sz="1200" b="0">
                <a:solidFill>
                  <a:srgbClr val="5A6B7C"/>
                </a:solidFill>
                <a:latin typeface="微軟正黑體"/>
              </a:rPr>
              <a:t>結構化輸出走降級階梯（json_schema → json_object → 文字解析），依各模型實測能力自動選路。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24281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E7C86"/>
                </a:solidFill>
                <a:latin typeface="微軟正黑體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229100"/>
            <a:ext cx="566928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00" b="1">
                <a:solidFill>
                  <a:srgbClr val="1A2332"/>
                </a:solidFill>
                <a:latin typeface="微軟正黑體"/>
              </a:rPr>
              <a:t>語意錨點資料模型　</a:t>
            </a:r>
            <a:r>
              <a:rPr sz="1200" b="0">
                <a:solidFill>
                  <a:srgbClr val="5A6B7C"/>
                </a:solidFill>
                <a:latin typeface="微軟正黑體"/>
              </a:rPr>
              <a:t>Pydantic 驗證，含 UNKNOWN 不確定性欄位與 alternative_readings。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81888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E7C86"/>
                </a:solidFill>
                <a:latin typeface="微軟正黑體"/>
              </a:rP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4805172"/>
            <a:ext cx="566928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00" b="1">
                <a:solidFill>
                  <a:srgbClr val="1A2332"/>
                </a:solidFill>
                <a:latin typeface="微軟正黑體"/>
              </a:rPr>
              <a:t>檔案化的 prompt 與語言技能檔　</a:t>
            </a:r>
            <a:r>
              <a:rPr sz="1200" b="0">
                <a:solidFill>
                  <a:srgbClr val="5A6B7C"/>
                </a:solidFill>
                <a:latin typeface="微軟正黑體"/>
              </a:rPr>
              <a:t>5 份 prompt、5 份語言技能檔（zh-TW/en/ja/de/範本），每筆 run log 記錄 prompt hash。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67728" y="1572768"/>
            <a:ext cx="4565599" cy="1874519"/>
          </a:xfrm>
          <a:prstGeom prst="roundRect">
            <a:avLst>
              <a:gd name="adj" fmla="val 6000"/>
            </a:avLst>
          </a:prstGeom>
          <a:solidFill>
            <a:srgbClr val="102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187184" y="1719072"/>
            <a:ext cx="41083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6FC5CC"/>
                </a:solidFill>
                <a:latin typeface="微軟正黑體"/>
              </a:rPr>
              <a:t>DoD：三個指令皆可執行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87184" y="2048256"/>
            <a:ext cx="415411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050" b="0">
                <a:solidFill>
                  <a:srgbClr val="C8D8E0"/>
                </a:solidFill>
                <a:latin typeface="Consolas"/>
              </a:rPr>
              <a:t>cli run  --text "…" --profile cross_en_ja
cli batch --dataset data/dev30/sentences.yaml
cli golden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87184" y="3054096"/>
            <a:ext cx="41083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FD6B4"/>
                </a:solidFill>
                <a:latin typeface="微軟正黑體"/>
              </a:rPr>
              <a:t>✅ 三個都跑完，runs/*.jsonl 記錄完整，重跑結果一致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67728" y="3602736"/>
            <a:ext cx="4565599" cy="1828800"/>
          </a:xfrm>
          <a:prstGeom prst="roundRect">
            <a:avLst>
              <a:gd name="adj" fmla="val 6000"/>
            </a:avLst>
          </a:prstGeom>
          <a:solidFill>
            <a:srgbClr val="F5F8F9"/>
          </a:solidFill>
          <a:ln w="12700">
            <a:solidFill>
              <a:srgbClr val="DA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187184" y="3730752"/>
            <a:ext cx="41083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A4F57"/>
                </a:solidFill>
                <a:latin typeface="微軟正黑體"/>
              </a:rPr>
              <a:t>可重現性設計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87184" y="4059935"/>
            <a:ext cx="410839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>
                <a:solidFill>
                  <a:srgbClr val="1A2332"/>
                </a:solidFill>
                <a:latin typeface="微軟正黑體"/>
              </a:rPr>
              <a:t>· 每筆 run 記錄 commit hash ＋ dirty 旗標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>
                <a:solidFill>
                  <a:srgbClr val="1A2332"/>
                </a:solidFill>
                <a:latin typeface="微軟正黑體"/>
              </a:rPr>
              <a:t>· prompt hash 隨每次呼叫寫入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>
                <a:solidFill>
                  <a:srgbClr val="1A2332"/>
                </a:solidFill>
                <a:latin typeface="微軟正黑體"/>
              </a:rPr>
              <a:t>· 快取鍵含取樣參數（temperature／n／seed）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>
                <a:solidFill>
                  <a:srgbClr val="1A2332"/>
                </a:solidFill>
                <a:latin typeface="微軟正黑體"/>
              </a:rPr>
              <a:t>· batch 支援斷點續跑，不重複計費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E7C86"/>
                </a:solidFill>
                <a:latin typeface="微軟正黑體"/>
              </a:rPr>
              <a:t>DELIVERED · P2-D1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A2332"/>
                </a:solidFill>
                <a:latin typeface="微軟正黑體"/>
              </a:rPr>
              <a:t>已完成（二）：主資料來源驗證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52144"/>
            <a:ext cx="1371600" cy="330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8368" y="1207008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A6B7C"/>
                </a:solidFill>
                <a:latin typeface="微軟正黑體"/>
              </a:rPr>
              <a:t>原則：不驗證完，不寫任何 builder。08/17 完成，結果記於 data/cwn/D1_FINDINGS.md。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8E9EAB"/>
                </a:solidFill>
                <a:latin typeface="微軟正黑體"/>
              </a:rPr>
              <a:t>Cognitive-Core ｜ 進度報告 2026-08-17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18927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8E9EAB"/>
                </a:solidFill>
                <a:latin typeface="微軟正黑體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37360"/>
            <a:ext cx="5760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A2332"/>
                </a:solidFill>
                <a:latin typeface="微軟正黑體"/>
              </a:rPr>
              <a:t>CWN-SemCor 實測結果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2084832"/>
          <a:ext cx="5760720" cy="318211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017520"/>
                <a:gridCol w="2743200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查驗項目</a:t>
                      </a:r>
                    </a:p>
                  </a:txBody>
                  <a:tcPr anchor="ctr" marL="100584" marR="73152" marT="27432" marB="27432">
                    <a:solidFill>
                      <a:srgbClr val="0A4F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結果</a:t>
                      </a:r>
                    </a:p>
                  </a:txBody>
                  <a:tcPr anchor="ctr" marL="100584" marR="73152" marT="27432" marB="27432">
                    <a:solidFill>
                      <a:srgbClr val="0A4F5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微軟正黑體"/>
                        </a:rPr>
                        <a:t>HuggingFace 可下載</a:t>
                      </a:r>
                    </a:p>
                  </a:txBody>
                  <a:tcPr anchor="ctr" marL="100584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2F7D4F"/>
                          </a:solidFill>
                          <a:latin typeface="微軟正黑體"/>
                        </a:rPr>
                        <a:t>● 可</a:t>
                      </a:r>
                    </a:p>
                  </a:txBody>
                  <a:tcPr anchor="ctr" marL="100584" marR="73152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微軟正黑體"/>
                        </a:rPr>
                        <a:t>實際授權（dataset card）</a:t>
                      </a:r>
                    </a:p>
                  </a:txBody>
                  <a:tcPr anchor="ctr" marL="100584" marR="73152" marT="27432" marB="27432">
                    <a:solidFill>
                      <a:srgbClr val="F5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2F7D4F"/>
                          </a:solidFill>
                          <a:latin typeface="微軟正黑體"/>
                        </a:rPr>
                        <a:t>● MIT，與規格所述相符</a:t>
                      </a:r>
                    </a:p>
                  </a:txBody>
                  <a:tcPr anchor="ctr" marL="100584" marR="73152" marT="27432" marB="27432">
                    <a:solidFill>
                      <a:srgbClr val="F5F8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微軟正黑體"/>
                        </a:rPr>
                        <a:t>還原展平後的唯一句子</a:t>
                      </a:r>
                    </a:p>
                  </a:txBody>
                  <a:tcPr anchor="ctr" marL="100584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微軟正黑體"/>
                        </a:rPr>
                        <a:t>21,098 句</a:t>
                      </a:r>
                    </a:p>
                  </a:txBody>
                  <a:tcPr anchor="ctr" marL="100584" marR="73152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微軟正黑體"/>
                        </a:rPr>
                        <a:t>唯一目標詞</a:t>
                      </a:r>
                    </a:p>
                  </a:txBody>
                  <a:tcPr anchor="ctr" marL="100584" marR="73152" marT="27432" marB="27432">
                    <a:solidFill>
                      <a:srgbClr val="F5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微軟正黑體"/>
                        </a:rPr>
                        <a:t>113 個（皆有 ≥2 個義項）</a:t>
                      </a:r>
                    </a:p>
                  </a:txBody>
                  <a:tcPr anchor="ctr" marL="100584" marR="73152" marT="27432" marB="27432">
                    <a:solidFill>
                      <a:srgbClr val="F5F8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微軟正黑體"/>
                        </a:rPr>
                        <a:t>目標詞標記完整性</a:t>
                      </a:r>
                    </a:p>
                  </a:txBody>
                  <a:tcPr anchor="ctr" marL="100584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微軟正黑體"/>
                        </a:rPr>
                        <a:t>284,060 / 284,060 皆含 &lt;目標詞&gt; 標記</a:t>
                      </a:r>
                    </a:p>
                  </a:txBody>
                  <a:tcPr anchor="ctr" marL="100584" marR="73152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微軟正黑體"/>
                        </a:rPr>
                        <a:t>目標詞在句中恰出現一次</a:t>
                      </a:r>
                    </a:p>
                  </a:txBody>
                  <a:tcPr anchor="ctr" marL="100584" marR="73152" marT="27432" marB="27432">
                    <a:solidFill>
                      <a:srgbClr val="F5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微軟正黑體"/>
                        </a:rPr>
                        <a:t>95.8%</a:t>
                      </a:r>
                    </a:p>
                  </a:txBody>
                  <a:tcPr anchor="ctr" marL="100584" marR="73152" marT="27432" marB="27432">
                    <a:solidFill>
                      <a:srgbClr val="F5F8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微軟正黑體"/>
                        </a:rPr>
                        <a:t>繁體純度</a:t>
                      </a:r>
                    </a:p>
                  </a:txBody>
                  <a:tcPr anchor="ctr" marL="100584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微軟正黑體"/>
                        </a:rPr>
                        <a:t>疑似含簡體者 10 / 21,098</a:t>
                      </a:r>
                    </a:p>
                  </a:txBody>
                  <a:tcPr anchor="ctr" marL="100584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8368" y="5449824"/>
            <a:ext cx="5760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5A6B7C"/>
                </a:solidFill>
                <a:latin typeface="微軟正黑體"/>
              </a:rPr>
              <a:t>為何決定性：義項來自中文詞網（CWN 2.0）詞典編纂，句子來自中央研究院平衡語料庫，六位語言學背景母語者標註——取代原本單人＋LLM 起草的 dev-30。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3407" y="1737360"/>
            <a:ext cx="48399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A2332"/>
                </a:solidFill>
                <a:latin typeface="微軟正黑體"/>
              </a:rPr>
              <a:t>同時完成的四項數字查證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693407" y="2084832"/>
          <a:ext cx="4839918" cy="21214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134423"/>
                <a:gridCol w="1705495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規格書中的主張</a:t>
                      </a:r>
                    </a:p>
                  </a:txBody>
                  <a:tcPr anchor="ctr" marL="100584" marR="73152" marT="27432" marB="27432">
                    <a:solidFill>
                      <a:srgbClr val="0A4F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查證結果</a:t>
                      </a:r>
                    </a:p>
                  </a:txBody>
                  <a:tcPr anchor="ctr" marL="100584" marR="73152" marT="27432" marB="27432">
                    <a:solidFill>
                      <a:srgbClr val="0A4F57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A2332"/>
                          </a:solidFill>
                          <a:latin typeface="微軟正黑體"/>
                        </a:rPr>
                        <a:t>Wu et al. BERT-ft 94.70% / 91.81 F1</a:t>
                      </a:r>
                    </a:p>
                  </a:txBody>
                  <a:tcPr anchor="ctr" marL="100584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2F7D4F"/>
                          </a:solidFill>
                          <a:latin typeface="微軟正黑體"/>
                        </a:rPr>
                        <a:t>● 完全吻合</a:t>
                      </a:r>
                    </a:p>
                  </a:txBody>
                  <a:tcPr anchor="ctr" marL="100584" marR="73152" marT="27432" marB="27432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A2332"/>
                          </a:solidFill>
                          <a:latin typeface="微軟正黑體"/>
                        </a:rPr>
                        <a:t>中文零形式主詞 36%、英文 4%</a:t>
                      </a:r>
                    </a:p>
                  </a:txBody>
                  <a:tcPr anchor="ctr" marL="100584" marR="73152" marT="27432" marB="27432">
                    <a:solidFill>
                      <a:srgbClr val="F5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2F7D4F"/>
                          </a:solidFill>
                          <a:latin typeface="微軟正黑體"/>
                        </a:rPr>
                        <a:t>● 為真</a:t>
                      </a:r>
                    </a:p>
                  </a:txBody>
                  <a:tcPr anchor="ctr" marL="100584" marR="73152" marT="27432" marB="27432">
                    <a:solidFill>
                      <a:srgbClr val="F5F8F9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A2332"/>
                          </a:solidFill>
                          <a:latin typeface="微軟正黑體"/>
                        </a:rPr>
                        <a:t>Qwen2.5 Base/Instruct 熵差</a:t>
                      </a:r>
                    </a:p>
                  </a:txBody>
                  <a:tcPr anchor="ctr" marL="100584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B07212"/>
                          </a:solidFill>
                          <a:latin typeface="微軟正黑體"/>
                        </a:rPr>
                        <a:t>● 定性為真、數值待查</a:t>
                      </a:r>
                    </a:p>
                  </a:txBody>
                  <a:tcPr anchor="ctr" marL="100584" marR="73152" marT="27432" marB="27432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A2332"/>
                          </a:solidFill>
                          <a:latin typeface="微軟正黑體"/>
                        </a:rPr>
                        <a:t>CHAmbi 893 歧義／1784 非歧義</a:t>
                      </a:r>
                    </a:p>
                  </a:txBody>
                  <a:tcPr anchor="ctr" marL="100584" marR="73152" marT="27432" marB="27432">
                    <a:solidFill>
                      <a:srgbClr val="F5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A8382C"/>
                          </a:solidFill>
                          <a:latin typeface="微軟正黑體"/>
                        </a:rPr>
                        <a:t>● 與原文不符，須換掉</a:t>
                      </a:r>
                    </a:p>
                  </a:txBody>
                  <a:tcPr anchor="ctr" marL="100584" marR="73152" marT="27432" marB="27432"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693407" y="4370832"/>
            <a:ext cx="4839919" cy="1536192"/>
          </a:xfrm>
          <a:prstGeom prst="roundRect">
            <a:avLst>
              <a:gd name="adj" fmla="val 6000"/>
            </a:avLst>
          </a:prstGeom>
          <a:solidFill>
            <a:srgbClr val="FCEFED"/>
          </a:solidFill>
          <a:ln w="12700">
            <a:solidFill>
              <a:srgbClr val="E8C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894575" y="4498848"/>
            <a:ext cx="443758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1">
                <a:solidFill>
                  <a:srgbClr val="A8382C"/>
                </a:solidFill>
                <a:latin typeface="微軟正黑體"/>
              </a:rPr>
              <a:t>● 查證時發現一篇高度重疊的論文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1A2332"/>
                </a:solidFill>
                <a:latin typeface="微軟正黑體"/>
              </a:rPr>
              <a:t>arXiv:2605.15635（2026-05 投稿）以「翻譯 + 語意熵」偵測中文歧義，等於本專案演算法 1 的核心，且發表於本專案設計實驗的三個月前。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1">
                <a:solidFill>
                  <a:srgbClr val="A8382C"/>
                </a:solidFill>
                <a:latin typeface="微軟正黑體"/>
              </a:rPr>
              <a:t>→ novelty 邊界需重新界定；PDF 已下載待研究者自行評估。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E7C86"/>
                </a:solidFill>
                <a:latin typeface="微軟正黑體"/>
              </a:rPr>
              <a:t>KEY FINDING 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A2332"/>
                </a:solidFill>
                <a:latin typeface="微軟正黑體"/>
              </a:rPr>
              <a:t>關鍵發現：中文歧義資料集的「長度混淆」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52144"/>
            <a:ext cx="1371600" cy="330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8368" y="1207008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A6B7C"/>
                </a:solidFill>
                <a:latin typeface="微軟正黑體"/>
              </a:rPr>
              <a:t>本階段最有價值的產出，且不依賴本專案的系統是否有效，可獨立成立。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8E9EAB"/>
                </a:solidFill>
                <a:latin typeface="微軟正黑體"/>
              </a:rPr>
              <a:t>Cognitive-Core ｜ 進度報告 2026-08-17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18927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8E9EAB"/>
                </a:solidFill>
                <a:latin typeface="微軟正黑體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10874959" cy="713232"/>
          </a:xfrm>
          <a:prstGeom prst="roundRect">
            <a:avLst>
              <a:gd name="adj" fmla="val 6000"/>
            </a:avLst>
          </a:prstGeom>
          <a:solidFill>
            <a:srgbClr val="FCEFED"/>
          </a:solidFill>
          <a:ln w="12700">
            <a:solidFill>
              <a:srgbClr val="E8C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6112" y="1591056"/>
            <a:ext cx="10372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1">
                <a:solidFill>
                  <a:srgbClr val="A8382C"/>
                </a:solidFill>
                <a:latin typeface="微軟正黑體"/>
              </a:rPr>
              <a:t>機制　</a:t>
            </a:r>
            <a:r>
              <a:rPr sz="1250" b="0">
                <a:solidFill>
                  <a:srgbClr val="1A2332"/>
                </a:solidFill>
                <a:latin typeface="微軟正黑體"/>
              </a:rPr>
              <a:t>歧義多半來自「省略」，省略就短；消歧要「寫明」，寫明就長。於是「歧義句 vs 消歧句」的資料集裡，句長本身就是標籤的代理變數——一個只數字數的分類器就能拿到高分，而那個分數看起來像模型能力。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39572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A2332"/>
                </a:solidFill>
                <a:latin typeface="微軟正黑體"/>
              </a:rPr>
              <a:t>以同一支長度基準對所有資料集一視同仁（含本專案自己的 dev-30）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58368" y="2761488"/>
          <a:ext cx="10874957" cy="199339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294295"/>
                <a:gridCol w="3670872"/>
                <a:gridCol w="1055375"/>
                <a:gridCol w="1193033"/>
                <a:gridCol w="1376577"/>
                <a:gridCol w="1284805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資料集</a:t>
                      </a:r>
                    </a:p>
                  </a:txBody>
                  <a:tcPr anchor="ctr" marL="100584" marR="73152" marT="27432" marB="27432">
                    <a:solidFill>
                      <a:srgbClr val="0A4F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比較方式</a:t>
                      </a:r>
                    </a:p>
                  </a:txBody>
                  <a:tcPr anchor="ctr" marL="100584" marR="73152" marT="27432" marB="27432">
                    <a:solidFill>
                      <a:srgbClr val="0A4F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n</a:t>
                      </a:r>
                    </a:p>
                  </a:txBody>
                  <a:tcPr anchor="ctr" marL="100584" marR="73152" marT="27432" marB="27432">
                    <a:solidFill>
                      <a:srgbClr val="0A4F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長度 AUC</a:t>
                      </a:r>
                    </a:p>
                  </a:txBody>
                  <a:tcPr anchor="ctr" marL="100584" marR="73152" marT="27432" marB="27432">
                    <a:solidFill>
                      <a:srgbClr val="0A4F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95% CI</a:t>
                      </a:r>
                    </a:p>
                  </a:txBody>
                  <a:tcPr anchor="ctr" marL="100584" marR="73152" marT="27432" marB="27432">
                    <a:solidFill>
                      <a:srgbClr val="0A4F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判讀</a:t>
                      </a:r>
                    </a:p>
                  </a:txBody>
                  <a:tcPr anchor="ctr" marL="100584" marR="73152" marT="27432" marB="27432">
                    <a:solidFill>
                      <a:srgbClr val="0A4F5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微軟正黑體"/>
                        </a:rPr>
                        <a:t>Wu et al. 2025</a:t>
                      </a:r>
                    </a:p>
                  </a:txBody>
                  <a:tcPr anchor="ctr" marL="100584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微軟正黑體"/>
                        </a:rPr>
                        <a:t>歧義句（無上下文） vs 消歧句</a:t>
                      </a:r>
                    </a:p>
                  </a:txBody>
                  <a:tcPr anchor="ctr" marL="100584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微軟正黑體"/>
                        </a:rPr>
                        <a:t>136／136</a:t>
                      </a:r>
                    </a:p>
                  </a:txBody>
                  <a:tcPr anchor="ctr" marL="100584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A8382C"/>
                          </a:solidFill>
                          <a:latin typeface="微軟正黑體"/>
                        </a:rPr>
                        <a:t>0.965</a:t>
                      </a:r>
                    </a:p>
                  </a:txBody>
                  <a:tcPr anchor="ctr" marL="100584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微軟正黑體"/>
                        </a:rPr>
                        <a:t>[0.94, 0.99]</a:t>
                      </a:r>
                    </a:p>
                  </a:txBody>
                  <a:tcPr anchor="ctr" marL="100584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A8382C"/>
                          </a:solidFill>
                          <a:latin typeface="微軟正黑體"/>
                        </a:rPr>
                        <a:t>● 嚴重</a:t>
                      </a:r>
                    </a:p>
                  </a:txBody>
                  <a:tcPr anchor="ctr" marL="100584" marR="73152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微軟正黑體"/>
                        </a:rPr>
                        <a:t>Wu et al. 2025</a:t>
                      </a:r>
                    </a:p>
                  </a:txBody>
                  <a:tcPr anchor="ctr" marL="100584" marR="73152" marT="27432" marB="27432">
                    <a:solidFill>
                      <a:srgbClr val="F5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微軟正黑體"/>
                        </a:rPr>
                        <a:t>歧義句＋上下文 vs 消歧句</a:t>
                      </a:r>
                    </a:p>
                  </a:txBody>
                  <a:tcPr anchor="ctr" marL="100584" marR="73152" marT="27432" marB="27432">
                    <a:solidFill>
                      <a:srgbClr val="F5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微軟正黑體"/>
                        </a:rPr>
                        <a:t>136／136</a:t>
                      </a:r>
                    </a:p>
                  </a:txBody>
                  <a:tcPr anchor="ctr" marL="100584" marR="73152" marT="27432" marB="27432">
                    <a:solidFill>
                      <a:srgbClr val="F5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B07212"/>
                          </a:solidFill>
                          <a:latin typeface="微軟正黑體"/>
                        </a:rPr>
                        <a:t>0.712</a:t>
                      </a:r>
                    </a:p>
                  </a:txBody>
                  <a:tcPr anchor="ctr" marL="100584" marR="73152" marT="27432" marB="27432">
                    <a:solidFill>
                      <a:srgbClr val="F5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微軟正黑體"/>
                        </a:rPr>
                        <a:t>[0.65, 0.77]</a:t>
                      </a:r>
                    </a:p>
                  </a:txBody>
                  <a:tcPr anchor="ctr" marL="100584" marR="73152" marT="27432" marB="27432">
                    <a:solidFill>
                      <a:srgbClr val="F5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B07212"/>
                          </a:solidFill>
                          <a:latin typeface="微軟正黑體"/>
                        </a:rPr>
                        <a:t>● 中度</a:t>
                      </a:r>
                    </a:p>
                  </a:txBody>
                  <a:tcPr anchor="ctr" marL="100584" marR="73152" marT="27432" marB="27432">
                    <a:solidFill>
                      <a:srgbClr val="F5F8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微軟正黑體"/>
                        </a:rPr>
                        <a:t>CHA-Gen</a:t>
                      </a:r>
                    </a:p>
                  </a:txBody>
                  <a:tcPr anchor="ctr" marL="100584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微軟正黑體"/>
                        </a:rPr>
                        <a:t>歧義句 vs 配對的非歧義句</a:t>
                      </a:r>
                    </a:p>
                  </a:txBody>
                  <a:tcPr anchor="ctr" marL="100584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微軟正黑體"/>
                        </a:rPr>
                        <a:t>2414／2414</a:t>
                      </a:r>
                    </a:p>
                  </a:txBody>
                  <a:tcPr anchor="ctr" marL="100584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微軟正黑體"/>
                        </a:rPr>
                        <a:t>0.503</a:t>
                      </a:r>
                    </a:p>
                  </a:txBody>
                  <a:tcPr anchor="ctr" marL="100584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微軟正黑體"/>
                        </a:rPr>
                        <a:t>[0.49, 0.52]</a:t>
                      </a:r>
                    </a:p>
                  </a:txBody>
                  <a:tcPr anchor="ctr" marL="100584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F7D4F"/>
                          </a:solidFill>
                          <a:latin typeface="微軟正黑體"/>
                        </a:rPr>
                        <a:t>○ 可接受</a:t>
                      </a:r>
                    </a:p>
                  </a:txBody>
                  <a:tcPr anchor="ctr" marL="100584" marR="73152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微軟正黑體"/>
                        </a:rPr>
                        <a:t>本專案 dev-30（修正後）</a:t>
                      </a:r>
                    </a:p>
                  </a:txBody>
                  <a:tcPr anchor="ctr" marL="100584" marR="73152" marT="27432" marB="27432">
                    <a:solidFill>
                      <a:srgbClr val="F5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微軟正黑體"/>
                        </a:rPr>
                        <a:t>歧義句 vs 等長替換消歧句</a:t>
                      </a:r>
                    </a:p>
                  </a:txBody>
                  <a:tcPr anchor="ctr" marL="100584" marR="73152" marT="27432" marB="27432">
                    <a:solidFill>
                      <a:srgbClr val="F5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微軟正黑體"/>
                        </a:rPr>
                        <a:t>30／30</a:t>
                      </a:r>
                    </a:p>
                  </a:txBody>
                  <a:tcPr anchor="ctr" marL="100584" marR="73152" marT="27432" marB="27432">
                    <a:solidFill>
                      <a:srgbClr val="F5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微軟正黑體"/>
                        </a:rPr>
                        <a:t>0.511</a:t>
                      </a:r>
                    </a:p>
                  </a:txBody>
                  <a:tcPr anchor="ctr" marL="100584" marR="73152" marT="27432" marB="27432">
                    <a:solidFill>
                      <a:srgbClr val="F5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微軟正黑體"/>
                        </a:rPr>
                        <a:t>[0.36, 0.66]</a:t>
                      </a:r>
                    </a:p>
                  </a:txBody>
                  <a:tcPr anchor="ctr" marL="100584" marR="73152" marT="27432" marB="27432">
                    <a:solidFill>
                      <a:srgbClr val="F5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F7D4F"/>
                          </a:solidFill>
                          <a:latin typeface="微軟正黑體"/>
                        </a:rPr>
                        <a:t>○ 可接受</a:t>
                      </a:r>
                    </a:p>
                  </a:txBody>
                  <a:tcPr anchor="ctr" marL="100584" marR="73152" marT="27432" marB="27432"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58368" y="4828032"/>
            <a:ext cx="5669280" cy="1060704"/>
          </a:xfrm>
          <a:prstGeom prst="roundRect">
            <a:avLst>
              <a:gd name="adj" fmla="val 6000"/>
            </a:avLst>
          </a:prstGeom>
          <a:solidFill>
            <a:srgbClr val="F5F8F9"/>
          </a:solidFill>
          <a:ln w="12700">
            <a:solidFill>
              <a:srgbClr val="DA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77824" y="4946904"/>
            <a:ext cx="5257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1A2332"/>
                </a:solidFill>
                <a:latin typeface="微軟正黑體"/>
              </a:rPr>
              <a:t>對本專案的代價（照實報告）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5A6B7C"/>
                </a:solidFill>
                <a:latin typeface="微軟正黑體"/>
              </a:rPr>
              <a:t>回頭套用到自己前期的 15 句 spike：只用句長的分類器 AUC = 0.900，高於整條多視角管線的最佳量測 0.840。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A8382C"/>
                </a:solidFill>
                <a:latin typeface="微軟正黑體"/>
              </a:rPr>
              <a:t>→ 前期八個 AUC、DeLong 檢定等結果全數作廢，該批句子退役。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0528" y="4828032"/>
            <a:ext cx="5022799" cy="1060704"/>
          </a:xfrm>
          <a:prstGeom prst="roundRect">
            <a:avLst>
              <a:gd name="adj" fmla="val 6000"/>
            </a:avLst>
          </a:prstGeom>
          <a:solidFill>
            <a:srgbClr val="ECF3F4"/>
          </a:solidFill>
          <a:ln w="12700">
            <a:solidFill>
              <a:srgbClr val="DA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729983" y="4946904"/>
            <a:ext cx="45655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0A4F57"/>
                </a:solidFill>
                <a:latin typeface="微軟正黑體"/>
              </a:rPr>
              <a:t>對外的價值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1A2332"/>
                </a:solidFill>
                <a:latin typeface="微軟正黑體"/>
              </a:rPr>
              <a:t>一個已發表的中文歧義資料集，其成對消歧句可被「只數字數」的分類器以 AUC 0.965 分開。任何以此類資料做歧義偵測評測而未報告長度基準的研究，成績都可能主要來自長度。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943600"/>
            <a:ext cx="1087495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A6B7C"/>
                </a:solidFill>
                <a:latin typeface="微軟正黑體"/>
              </a:rPr>
              <a:t>▲ 公平陳述：這些資料集是為各自的用途設計的（Wu et al. 是為「生成消歧版本」而設計）。有問題的是把它們當偵測任務的負例——那是本專案的用法，不是原作者的主張。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E7C86"/>
                </a:solidFill>
                <a:latin typeface="微軟正黑體"/>
              </a:rPr>
              <a:t>DESIGN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A2332"/>
                </a:solidFill>
                <a:latin typeface="微軟正黑體"/>
              </a:rPr>
              <a:t>因應設計：脈絡恆等三元組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52144"/>
            <a:ext cx="1371600" cy="330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8368" y="1207008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A6B7C"/>
                </a:solidFill>
                <a:latin typeface="微軟正黑體"/>
              </a:rPr>
              <a:t>不是量測後揭露混淆，而是讓混淆不可能發生。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8E9EAB"/>
                </a:solidFill>
                <a:latin typeface="微軟正黑體"/>
              </a:rPr>
              <a:t>Cognitive-Core ｜ 進度報告 2026-08-17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18927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8E9EAB"/>
                </a:solidFill>
                <a:latin typeface="微軟正黑體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10874959" cy="566928"/>
          </a:xfrm>
          <a:prstGeom prst="roundRect">
            <a:avLst>
              <a:gd name="adj" fmla="val 6000"/>
            </a:avLst>
          </a:prstGeom>
          <a:solidFill>
            <a:srgbClr val="EC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58368" y="1481328"/>
            <a:ext cx="50292" cy="5669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32688" y="1600200"/>
            <a:ext cx="103263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1">
                <a:solidFill>
                  <a:srgbClr val="0A4F57"/>
                </a:solidFill>
                <a:latin typeface="微軟正黑體"/>
              </a:rPr>
              <a:t>所有實驗條件下，被測子句的字元序列完全相同；只變動被測子句以外的脈絡。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45059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8A9AA8"/>
                </a:solidFill>
                <a:latin typeface="微軟正黑體"/>
              </a:rPr>
              <a:t>條件 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24528" y="2322576"/>
            <a:ext cx="2331720" cy="512064"/>
          </a:xfrm>
          <a:prstGeom prst="roundRect">
            <a:avLst>
              <a:gd name="adj" fmla="val 6000"/>
            </a:avLst>
          </a:prstGeom>
          <a:solidFill>
            <a:srgbClr val="ECF3F4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270248" y="2450592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A4F57"/>
                </a:solidFill>
                <a:latin typeface="微軟正黑體"/>
              </a:rPr>
              <a:t>還不如死了算了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1696" y="2459736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B7C"/>
                </a:solidFill>
                <a:latin typeface="微軟正黑體"/>
              </a:rPr>
              <a:t>效度檢查：確認這題真的需要脈絡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16382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E7C86"/>
                </a:solidFill>
                <a:latin typeface="微軟正黑體"/>
              </a:rPr>
              <a:t>條件 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81328" y="3035808"/>
            <a:ext cx="2651760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A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572768" y="3163824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A6B7C"/>
                </a:solidFill>
                <a:latin typeface="微軟正黑體"/>
              </a:rPr>
              <a:t>他生了重病，痛苦得受不了，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24528" y="3035808"/>
            <a:ext cx="2331720" cy="512064"/>
          </a:xfrm>
          <a:prstGeom prst="roundRect">
            <a:avLst>
              <a:gd name="adj" fmla="val 6000"/>
            </a:avLst>
          </a:prstGeom>
          <a:solidFill>
            <a:srgbClr val="ECF3F4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270248" y="3163824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A4F57"/>
                </a:solidFill>
                <a:latin typeface="微軟正黑體"/>
              </a:rPr>
              <a:t>還不如死了算了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11696" y="3172968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B7C"/>
                </a:solidFill>
                <a:latin typeface="微軟正黑體"/>
              </a:rPr>
              <a:t>測試：譯文應表達「失去生命」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877055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E7C86"/>
                </a:solidFill>
                <a:latin typeface="微軟正黑體"/>
              </a:rPr>
              <a:t>條件 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81328" y="3749039"/>
            <a:ext cx="2651760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A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572768" y="3877055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A6B7C"/>
                </a:solidFill>
                <a:latin typeface="微軟正黑體"/>
              </a:rPr>
              <a:t>這場比賽輸得這麼難看，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24528" y="3749039"/>
            <a:ext cx="2331720" cy="512064"/>
          </a:xfrm>
          <a:prstGeom prst="roundRect">
            <a:avLst>
              <a:gd name="adj" fmla="val 6000"/>
            </a:avLst>
          </a:prstGeom>
          <a:solidFill>
            <a:srgbClr val="ECF3F4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270248" y="3877055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A4F57"/>
                </a:solidFill>
                <a:latin typeface="微軟正黑體"/>
              </a:rPr>
              <a:t>還不如死了算了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11696" y="388620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B7C"/>
                </a:solidFill>
                <a:latin typeface="微軟正黑體"/>
              </a:rPr>
              <a:t>測試：譯文應表達「競爭中被淘汰」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44805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E7C86"/>
                </a:solidFill>
                <a:latin typeface="微軟正黑體"/>
              </a:rPr>
              <a:t>▲ 三條件下逐字元相同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484632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A2332"/>
                </a:solidFill>
                <a:latin typeface="微軟正黑體"/>
              </a:rPr>
              <a:t>由此得到兩件事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5193792"/>
            <a:ext cx="5669280" cy="1024128"/>
          </a:xfrm>
          <a:prstGeom prst="roundRect">
            <a:avLst>
              <a:gd name="adj" fmla="val 6000"/>
            </a:avLst>
          </a:prstGeom>
          <a:solidFill>
            <a:srgbClr val="F5F8F9"/>
          </a:solidFill>
          <a:ln w="12700">
            <a:solidFill>
              <a:srgbClr val="DA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77824" y="5303520"/>
            <a:ext cx="5257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1A2332"/>
                </a:solidFill>
                <a:latin typeface="微軟正黑體"/>
              </a:rPr>
              <a:t>① 訊號差異不可能來自表面特徵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5A6B7C"/>
                </a:solidFill>
                <a:latin typeface="微軟正黑體"/>
              </a:rPr>
              <a:t>被測子句在 U/A/B 完全相同，任何差異都只能來自脈絡。驗收條件：被測子句的長度 AUC 必須是 0.500——這個數字本身就是設計有效的證據。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10528" y="5193792"/>
            <a:ext cx="5022799" cy="1024128"/>
          </a:xfrm>
          <a:prstGeom prst="roundRect">
            <a:avLst>
              <a:gd name="adj" fmla="val 6000"/>
            </a:avLst>
          </a:prstGeom>
          <a:solidFill>
            <a:srgbClr val="F5F8F9"/>
          </a:solidFill>
          <a:ln w="12700">
            <a:solidFill>
              <a:srgbClr val="DA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729983" y="5303520"/>
            <a:ext cx="456559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1A2332"/>
                </a:solidFill>
                <a:latin typeface="微軟正黑體"/>
              </a:rPr>
              <a:t>② 錯誤分類變成客觀、零主觀標註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5A6B7C"/>
                </a:solidFill>
                <a:latin typeface="微軟正黑體"/>
              </a:rPr>
              <a:t>insensitive（A 與 B 選到同一義項）＝ 模型忽略脈絡，是最強的錯誤訊號——它不需要知道哪個義項才對，只需要知道兩個脈絡的答案應該不同。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E7C86"/>
                </a:solidFill>
                <a:latin typeface="微軟正黑體"/>
              </a:rPr>
              <a:t>NEGATIVE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A2332"/>
                </a:solidFill>
                <a:latin typeface="微軟正黑體"/>
              </a:rPr>
              <a:t>其他三項負面發現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52144"/>
            <a:ext cx="1371600" cy="330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8368" y="1207008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A6B7C"/>
                </a:solidFill>
                <a:latin typeface="微軟正黑體"/>
              </a:rPr>
              <a:t>負面結果照實報告。本階段最有價值的產出幾乎全部來自這裡。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8E9EAB"/>
                </a:solidFill>
                <a:latin typeface="微軟正黑體"/>
              </a:rPr>
              <a:t>Cognitive-Core ｜ 進度報告 2026-08-17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18927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8E9EAB"/>
                </a:solidFill>
                <a:latin typeface="微軟正黑體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3442106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A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58368" y="1481328"/>
            <a:ext cx="3442106" cy="64008"/>
          </a:xfrm>
          <a:prstGeom prst="rect">
            <a:avLst/>
          </a:prstGeom>
          <a:solidFill>
            <a:srgbClr val="B07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96112" y="1737360"/>
            <a:ext cx="298490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B07212"/>
                </a:solidFill>
                <a:latin typeface="Segoe UI Semibol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1993392"/>
            <a:ext cx="298490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>
                <a:solidFill>
                  <a:srgbClr val="1A2332"/>
                </a:solidFill>
                <a:latin typeface="微軟正黑體"/>
              </a:rPr>
              <a:t>問法會讓模型退化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95728"/>
            <a:ext cx="298490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B07212"/>
                </a:solidFill>
                <a:latin typeface="Segoe UI Semibold"/>
              </a:rPr>
              <a:t>0.500 → 0.660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2871216"/>
            <a:ext cx="2966618" cy="12700"/>
          </a:xfrm>
          <a:prstGeom prst="rect">
            <a:avLst/>
          </a:prstGeom>
          <a:solidFill>
            <a:srgbClr val="E4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96112" y="2999232"/>
            <a:ext cx="298490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A6B7C"/>
                </a:solidFill>
                <a:latin typeface="微軟正黑體"/>
              </a:rPr>
              <a:t>問模型「兩句話的意圖是不是相同」，它對所有句子一律回答「相同」，AUC 退化為 0.500，等於亂猜。改問「列出兩者的具體差異，完全相同則輸出『無差異』」，AUC 回到 0.660。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59" y="4480560"/>
            <a:ext cx="3112922" cy="877824"/>
          </a:xfrm>
          <a:prstGeom prst="roundRect">
            <a:avLst>
              <a:gd name="adj" fmla="val 6000"/>
            </a:avLst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69264" y="4572000"/>
            <a:ext cx="283860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1A2332"/>
                </a:solidFill>
                <a:latin typeface="微軟正黑體"/>
              </a:rPr>
              <a:t>→ 是／否的自我評估題會退化，強制生成題則保有訊號。此結論在專案內兩處獨立印證，已寫入系統設計。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4794" y="1481328"/>
            <a:ext cx="3442106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A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4374794" y="1481328"/>
            <a:ext cx="3442106" cy="6400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12538" y="1737360"/>
            <a:ext cx="298490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E7C86"/>
                </a:solidFill>
                <a:latin typeface="Segoe UI Semibold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2538" y="1993392"/>
            <a:ext cx="298490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>
                <a:solidFill>
                  <a:srgbClr val="1A2332"/>
                </a:solidFill>
                <a:latin typeface="微軟正黑體"/>
              </a:rPr>
              <a:t>本地 PPL 沒有訊號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2538" y="2395728"/>
            <a:ext cx="298490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0E7C86"/>
                </a:solidFill>
                <a:latin typeface="Segoe UI Semibold"/>
              </a:rPr>
              <a:t>0.484 / 0.516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12538" y="2871216"/>
            <a:ext cx="2966618" cy="12700"/>
          </a:xfrm>
          <a:prstGeom prst="rect">
            <a:avLst/>
          </a:prstGeom>
          <a:solidFill>
            <a:srgbClr val="E4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612538" y="2999232"/>
            <a:ext cx="298490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A6B7C"/>
                </a:solidFill>
                <a:latin typeface="微軟正黑體"/>
              </a:rPr>
              <a:t>用中文 GPT-2 算困惑度，測試「歧義句是否比消歧句更難預測」。n=30 下兩個方向的 AUC 分別為 0.484 與 0.516，都等同亂猜。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39386" y="4480560"/>
            <a:ext cx="3112922" cy="877824"/>
          </a:xfrm>
          <a:prstGeom prst="roundRect">
            <a:avLst>
              <a:gd name="adj" fmla="val 6000"/>
            </a:avLst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685690" y="4572000"/>
            <a:ext cx="283860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1A2332"/>
                </a:solidFill>
                <a:latin typeface="微軟正黑體"/>
              </a:rPr>
              <a:t>→ 排除了「本架構其實可被一個廉價的 PPL 指標取代」這個對架構存在理由的挑戰。負面結果，但有用。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1220" y="1481328"/>
            <a:ext cx="3442106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A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091220" y="1481328"/>
            <a:ext cx="3442106" cy="64008"/>
          </a:xfrm>
          <a:prstGeom prst="rect">
            <a:avLst/>
          </a:prstGeom>
          <a:solidFill>
            <a:srgbClr val="A8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328964" y="1737360"/>
            <a:ext cx="298490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A8382C"/>
                </a:solidFill>
                <a:latin typeface="Segoe UI Semibold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8964" y="1993392"/>
            <a:ext cx="298490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>
                <a:solidFill>
                  <a:srgbClr val="1A2332"/>
                </a:solidFill>
                <a:latin typeface="微軟正黑體"/>
              </a:rPr>
              <a:t>快取讓重取樣靜默失效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8964" y="2395728"/>
            <a:ext cx="298490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A8382C"/>
                </a:solidFill>
                <a:latin typeface="Segoe UI Semibold"/>
              </a:rPr>
              <a:t>4 次呼叫 → 1 種回應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28964" y="2871216"/>
            <a:ext cx="2966618" cy="12700"/>
          </a:xfrm>
          <a:prstGeom prst="rect">
            <a:avLst/>
          </a:prstGeom>
          <a:solidFill>
            <a:srgbClr val="E4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28964" y="2999232"/>
            <a:ext cx="298490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A6B7C"/>
                </a:solidFill>
                <a:latin typeface="微軟正黑體"/>
              </a:rPr>
              <a:t>校內端點自身有快取：相同請求即使把 temperature 設到 1.5，重送 4 次也只拿回同一份回應，自我一致性實驗因此全部無效而不自知。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55812" y="4480560"/>
            <a:ext cx="3112922" cy="877824"/>
          </a:xfrm>
          <a:prstGeom prst="roundRect">
            <a:avLst>
              <a:gd name="adj" fmla="val 6000"/>
            </a:avLst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02116" y="4572000"/>
            <a:ext cx="283860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1A2332"/>
                </a:solidFill>
                <a:latin typeface="微軟正黑體"/>
              </a:rPr>
              <a:t>→ 改為單一請求的 n=k 取樣，並補上快取鍵回歸測試（tests/test_cache_key.py）避免再犯。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5815584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A6B7C"/>
                </a:solidFill>
                <a:latin typeface="微軟正黑體"/>
              </a:rPr>
              <a:t>研究誠信原則：對有利結果嚴格，對不利結果同樣嚴格。所有作廢的結果都逐項列在文件的「已作廢，不得引用」一節。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E7C86"/>
                </a:solidFill>
                <a:latin typeface="微軟正黑體"/>
              </a:rPr>
              <a:t>ENGINEERING DISCIPLINE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A2332"/>
                </a:solidFill>
                <a:latin typeface="微軟正黑體"/>
              </a:rPr>
              <a:t>品質保證與工程紀律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52144"/>
            <a:ext cx="1371600" cy="330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8368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8E9EAB"/>
                </a:solidFill>
                <a:latin typeface="微軟正黑體"/>
              </a:rPr>
              <a:t>Cognitive-Core ｜ 進度報告 2026-08-17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18927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8E9EAB"/>
                </a:solidFill>
                <a:latin typeface="微軟正黑體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81328"/>
            <a:ext cx="2743200" cy="1280160"/>
          </a:xfrm>
          <a:prstGeom prst="roundRect">
            <a:avLst>
              <a:gd name="adj" fmla="val 6000"/>
            </a:avLst>
          </a:prstGeom>
          <a:solidFill>
            <a:srgbClr val="F5F8F9"/>
          </a:solidFill>
          <a:ln w="12700">
            <a:solidFill>
              <a:srgbClr val="DA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58368" y="1481328"/>
            <a:ext cx="50292" cy="1280160"/>
          </a:xfrm>
          <a:prstGeom prst="rect">
            <a:avLst/>
          </a:prstGeom>
          <a:solidFill>
            <a:srgbClr val="2F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6112" y="1627632"/>
            <a:ext cx="2377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2F7D4F"/>
                </a:solidFill>
                <a:latin typeface="Segoe UI Semibold"/>
              </a:rPr>
              <a:t>141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3969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2332"/>
                </a:solidFill>
                <a:latin typeface="微軟正黑體"/>
              </a:rPr>
              <a:t>項測試全數通過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95728"/>
            <a:ext cx="23408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5A6B7C"/>
                </a:solidFill>
                <a:latin typeface="微軟正黑體"/>
              </a:rPr>
              <a:t>10 支測試檔，全離線執行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84448" y="1481328"/>
            <a:ext cx="2743200" cy="1280160"/>
          </a:xfrm>
          <a:prstGeom prst="roundRect">
            <a:avLst>
              <a:gd name="adj" fmla="val 6000"/>
            </a:avLst>
          </a:prstGeom>
          <a:solidFill>
            <a:srgbClr val="F5F8F9"/>
          </a:solidFill>
          <a:ln w="12700">
            <a:solidFill>
              <a:srgbClr val="DA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584448" y="1481328"/>
            <a:ext cx="50292" cy="128016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822191" y="1627632"/>
            <a:ext cx="2377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E7C86"/>
                </a:solidFill>
                <a:latin typeface="Segoe UI Semibold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13969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2332"/>
                </a:solidFill>
                <a:latin typeface="微軟正黑體"/>
              </a:rPr>
              <a:t>次真實 API 呼叫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395728"/>
            <a:ext cx="23408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5A6B7C"/>
                </a:solidFill>
                <a:latin typeface="微軟正黑體"/>
              </a:rPr>
              <a:t>以 fake client 替換，測試不計費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10528" y="1481328"/>
            <a:ext cx="2743200" cy="1280160"/>
          </a:xfrm>
          <a:prstGeom prst="roundRect">
            <a:avLst>
              <a:gd name="adj" fmla="val 6000"/>
            </a:avLst>
          </a:prstGeom>
          <a:solidFill>
            <a:srgbClr val="F5F8F9"/>
          </a:solidFill>
          <a:ln w="12700">
            <a:solidFill>
              <a:srgbClr val="DA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510528" y="1481328"/>
            <a:ext cx="50292" cy="1280160"/>
          </a:xfrm>
          <a:prstGeom prst="rect">
            <a:avLst/>
          </a:prstGeom>
          <a:solidFill>
            <a:srgbClr val="B07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748272" y="1627632"/>
            <a:ext cx="2377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B07212"/>
                </a:solidFill>
                <a:latin typeface="Segoe UI Semibold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13969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2332"/>
                </a:solidFill>
                <a:latin typeface="微軟正黑體"/>
              </a:rPr>
              <a:t>處標註污染被測出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395728"/>
            <a:ext cx="23408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5A6B7C"/>
                </a:solidFill>
                <a:latin typeface="微軟正黑體"/>
              </a:rPr>
              <a:t>守門測試抓到自造的資料污染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36608" y="1481328"/>
            <a:ext cx="2096719" cy="1280160"/>
          </a:xfrm>
          <a:prstGeom prst="roundRect">
            <a:avLst>
              <a:gd name="adj" fmla="val 6000"/>
            </a:avLst>
          </a:prstGeom>
          <a:solidFill>
            <a:srgbClr val="F5F8F9"/>
          </a:solidFill>
          <a:ln w="12700">
            <a:solidFill>
              <a:srgbClr val="DA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9436608" y="1481328"/>
            <a:ext cx="50292" cy="128016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74352" y="1627632"/>
            <a:ext cx="1730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E7C86"/>
                </a:solidFill>
                <a:latin typeface="Segoe UI Semibold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2139696"/>
            <a:ext cx="16943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2332"/>
                </a:solidFill>
                <a:latin typeface="微軟正黑體"/>
              </a:rPr>
              <a:t>篇相關論文已查證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2395728"/>
            <a:ext cx="169438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5A6B7C"/>
                </a:solidFill>
                <a:latin typeface="微軟正黑體"/>
              </a:rPr>
              <a:t>含一篇高度重疊的先行研究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081528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A2332"/>
                </a:solidFill>
                <a:latin typeface="微軟正黑體"/>
              </a:rPr>
              <a:t>測試涵蓋的不變量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344728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2F7D4F"/>
                </a:solidFill>
                <a:latin typeface="微軟正黑體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3433572"/>
            <a:ext cx="5394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>
                <a:solidFill>
                  <a:srgbClr val="1A2332"/>
                </a:solidFill>
                <a:latin typeface="微軟正黑體"/>
              </a:rPr>
              <a:t>狀態機：快速／慢速通道分流、反思迴圈上限不會無限迴圈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383133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2F7D4F"/>
                </a:solidFill>
                <a:latin typeface="微軟正黑體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3817620"/>
            <a:ext cx="5394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>
                <a:solidFill>
                  <a:srgbClr val="1A2332"/>
                </a:solidFill>
                <a:latin typeface="微軟正黑體"/>
              </a:rPr>
              <a:t>source_text 在任何節點執行後皆未被修改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4215384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2F7D4F"/>
                </a:solidFill>
                <a:latin typeface="微軟正黑體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4201668"/>
            <a:ext cx="5394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>
                <a:solidFill>
                  <a:srgbClr val="1A2332"/>
                </a:solidFill>
                <a:latin typeface="微軟正黑體"/>
              </a:rPr>
              <a:t>決策時間軸不含模型原始推理文字（倫理界線）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459943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2F7D4F"/>
                </a:solidFill>
                <a:latin typeface="微軟正黑體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" y="4585716"/>
            <a:ext cx="5394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>
                <a:solidFill>
                  <a:srgbClr val="1A2332"/>
                </a:solidFill>
                <a:latin typeface="微軟正黑體"/>
              </a:rPr>
              <a:t>CLI：批次斷點續跑不重複呼叫、單句失敗不整體退出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498348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2F7D4F"/>
                </a:solidFill>
                <a:latin typeface="微軟正黑體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" y="4969764"/>
            <a:ext cx="5394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>
                <a:solidFill>
                  <a:srgbClr val="1A2332"/>
                </a:solidFill>
                <a:latin typeface="微軟正黑體"/>
              </a:rPr>
              <a:t>快取鍵含取樣參數（此測試即為前述快取 bug 的回歸測試）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93407" y="3081528"/>
            <a:ext cx="48399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A2332"/>
                </a:solidFill>
                <a:latin typeface="微軟正黑體"/>
              </a:rPr>
              <a:t>全案自訂的五條紅線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93407" y="344728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E7C86"/>
                </a:solidFill>
                <a:latin typeface="微軟正黑體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67727" y="3433572"/>
            <a:ext cx="456559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1">
                <a:solidFill>
                  <a:srgbClr val="1A2332"/>
                </a:solidFill>
                <a:latin typeface="微軟正黑體"/>
              </a:rPr>
              <a:t>長度與表層混淆　</a:t>
            </a:r>
            <a:r>
              <a:rPr sz="1050" b="0">
                <a:solidFill>
                  <a:srgbClr val="5A6B7C"/>
                </a:solidFill>
                <a:latin typeface="微軟正黑體"/>
              </a:rPr>
              <a:t>任何組間比較先跑長度基準，訊號 AUC 與最強雜訊 AUC 並列呈現。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93407" y="392277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E7C86"/>
                </a:solidFill>
                <a:latin typeface="微軟正黑體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67727" y="3909060"/>
            <a:ext cx="456559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1">
                <a:solidFill>
                  <a:srgbClr val="1A2332"/>
                </a:solidFill>
                <a:latin typeface="微軟正黑體"/>
              </a:rPr>
              <a:t>循環論證　</a:t>
            </a:r>
            <a:r>
              <a:rPr sz="1050" b="0">
                <a:solidFill>
                  <a:srgbClr val="5A6B7C"/>
                </a:solidFill>
                <a:latin typeface="微軟正黑體"/>
              </a:rPr>
              <a:t>反思迴圈的終止條件就是一致性，故一致性只作收斂診斷，不當勝負依據。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93407" y="4398264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E7C86"/>
                </a:solidFill>
                <a:latin typeface="微軟正黑體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67727" y="4384548"/>
            <a:ext cx="456559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1">
                <a:solidFill>
                  <a:srgbClr val="1A2332"/>
                </a:solidFill>
                <a:latin typeface="微軟正黑體"/>
              </a:rPr>
              <a:t>標註污染　</a:t>
            </a:r>
            <a:r>
              <a:rPr sz="1050" b="0">
                <a:solidFill>
                  <a:srgbClr val="5A6B7C"/>
                </a:solidFill>
                <a:latin typeface="微軟正黑體"/>
              </a:rPr>
              <a:t>題目標註在任何模型看過它之前凍結；模型輸出只能影響準則，不能影響個別答案。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93407" y="487375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E7C86"/>
                </a:solidFill>
                <a:latin typeface="微軟正黑體"/>
              </a:rPr>
              <a:t>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67727" y="4860036"/>
            <a:ext cx="456559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1">
                <a:solidFill>
                  <a:srgbClr val="1A2332"/>
                </a:solidFill>
                <a:latin typeface="微軟正黑體"/>
              </a:rPr>
              <a:t>不對稱的證據標準　</a:t>
            </a:r>
            <a:r>
              <a:rPr sz="1050" b="0">
                <a:solidFill>
                  <a:srgbClr val="5A6B7C"/>
                </a:solidFill>
                <a:latin typeface="微軟正黑體"/>
              </a:rPr>
              <a:t>記錄總共試了幾個配置（研究者自由度）；AUC=1.000 時改用排列檢定。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93407" y="534924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E7C86"/>
                </a:solidFill>
                <a:latin typeface="微軟正黑體"/>
              </a:rPr>
              <a:t>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67727" y="5335524"/>
            <a:ext cx="456559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1">
                <a:solidFill>
                  <a:srgbClr val="1A2332"/>
                </a:solidFill>
                <a:latin typeface="微軟正黑體"/>
              </a:rPr>
              <a:t>基礎設施債　</a:t>
            </a:r>
            <a:r>
              <a:rPr sz="1050" b="0">
                <a:solidFill>
                  <a:srgbClr val="5A6B7C"/>
                </a:solidFill>
                <a:latin typeface="微軟正黑體"/>
              </a:rPr>
              <a:t>每筆 run 記錄 commit hash 與 prompt hash；新指標必須有單元測試才可下結論。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E7C86"/>
                </a:solidFill>
                <a:latin typeface="微軟正黑體"/>
              </a:rPr>
              <a:t>RISKS &amp; OPEN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A2332"/>
                </a:solidFill>
                <a:latin typeface="微軟正黑體"/>
              </a:rPr>
              <a:t>風險與待決事項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52144"/>
            <a:ext cx="1371600" cy="330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8368" y="1207008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A6B7C"/>
                </a:solidFill>
                <a:latin typeface="微軟正黑體"/>
              </a:rPr>
              <a:t>下列四項需要研究者／指導教授裁定，其餘依規格執行即可。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8E9EAB"/>
                </a:solidFill>
                <a:latin typeface="微軟正黑體"/>
              </a:rPr>
              <a:t>Cognitive-Core ｜ 進度報告 2026-08-17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18927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8E9EAB"/>
                </a:solidFill>
                <a:latin typeface="微軟正黑體"/>
              </a:rPr>
              <a:t>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737360"/>
          <a:ext cx="10874956" cy="37490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63040"/>
                <a:gridCol w="3899387"/>
                <a:gridCol w="2512938"/>
                <a:gridCol w="2599591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項目</a:t>
                      </a:r>
                    </a:p>
                  </a:txBody>
                  <a:tcPr anchor="ctr" marL="100584" marR="73152" marT="27432" marB="27432">
                    <a:solidFill>
                      <a:srgbClr val="0A4F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情況</a:t>
                      </a:r>
                    </a:p>
                  </a:txBody>
                  <a:tcPr anchor="ctr" marL="100584" marR="73152" marT="27432" marB="27432">
                    <a:solidFill>
                      <a:srgbClr val="0A4F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影響</a:t>
                      </a:r>
                    </a:p>
                  </a:txBody>
                  <a:tcPr anchor="ctr" marL="100584" marR="73152" marT="27432" marB="27432">
                    <a:solidFill>
                      <a:srgbClr val="0A4F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所需決定</a:t>
                      </a:r>
                    </a:p>
                  </a:txBody>
                  <a:tcPr anchor="ctr" marL="100584" marR="73152" marT="27432" marB="27432">
                    <a:solidFill>
                      <a:srgbClr val="0A4F57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A2332"/>
                          </a:solidFill>
                          <a:latin typeface="微軟正黑體"/>
                        </a:rPr>
                        <a:t>CwnGraph 授權為 GPL v3</a:t>
                      </a:r>
                    </a:p>
                  </a:txBody>
                  <a:tcPr anchor="ctr" marL="100584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A2332"/>
                          </a:solidFill>
                          <a:latin typeface="微軟正黑體"/>
                        </a:rPr>
                        <a:t>規格書原記為「學術免費、禁商用」，實測為 GPL v3（傳染性授權）。CWN 資料本身的授權另需向官方確認。</a:t>
                      </a:r>
                    </a:p>
                  </a:txBody>
                  <a:tcPr anchor="ctr" marL="100584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A2332"/>
                          </a:solidFill>
                          <a:latin typeface="微軟正黑體"/>
                        </a:rPr>
                        <a:t>若當程式庫連結進 repo，會觸發衍生作品條款</a:t>
                      </a:r>
                    </a:p>
                  </a:txBody>
                  <a:tcPr anchor="ctr" marL="100584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A2332"/>
                          </a:solidFill>
                          <a:latin typeface="微軟正黑體"/>
                        </a:rPr>
                        <a:t>只在資料建構階段使用／全案改 GPL／改用資料集自帶的定義欄位</a:t>
                      </a:r>
                    </a:p>
                  </a:txBody>
                  <a:tcPr anchor="ctr" marL="100584" marR="73152" marT="27432" marB="27432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A2332"/>
                          </a:solidFill>
                          <a:latin typeface="微軟正黑體"/>
                        </a:rPr>
                        <a:t>高度重疊的先行研究</a:t>
                      </a:r>
                    </a:p>
                  </a:txBody>
                  <a:tcPr anchor="ctr" marL="100584" marR="73152" marT="27432" marB="27432">
                    <a:solidFill>
                      <a:srgbClr val="F5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A2332"/>
                          </a:solidFill>
                          <a:latin typeface="微軟正黑體"/>
                        </a:rPr>
                        <a:t>arXiv:2605.15635 以「翻譯 + 語意熵」偵測中文歧義，方法與本專案演算法 1 核心重疊，早三個月發表。</a:t>
                      </a:r>
                    </a:p>
                  </a:txBody>
                  <a:tcPr anchor="ctr" marL="100584" marR="73152" marT="27432" marB="27432">
                    <a:solidFill>
                      <a:srgbClr val="F5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A2332"/>
                          </a:solidFill>
                          <a:latin typeface="微軟正黑體"/>
                        </a:rPr>
                        <a:t>novelty 論述與「語意熵取代成對餘弦」的採納範圍</a:t>
                      </a:r>
                    </a:p>
                  </a:txBody>
                  <a:tcPr anchor="ctr" marL="100584" marR="73152" marT="27432" marB="27432">
                    <a:solidFill>
                      <a:srgbClr val="F5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A2332"/>
                          </a:solidFill>
                          <a:latin typeface="微軟正黑體"/>
                        </a:rPr>
                        <a:t>劃定 novelty 邊界；本專案的差異點在「用於路由」與「逼出承諾」</a:t>
                      </a:r>
                    </a:p>
                  </a:txBody>
                  <a:tcPr anchor="ctr" marL="100584" marR="73152" marT="27432" marB="27432">
                    <a:solidFill>
                      <a:srgbClr val="F5F8F9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A2332"/>
                          </a:solidFill>
                          <a:latin typeface="微軟正黑體"/>
                        </a:rPr>
                        <a:t>dev-30 標註獨立性缺口</a:t>
                      </a:r>
                    </a:p>
                  </a:txBody>
                  <a:tcPr anchor="ctr" marL="100584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A2332"/>
                          </a:solidFill>
                          <a:latin typeface="微軟正黑體"/>
                        </a:rPr>
                        <a:t>第二輪複核時 30 句全部被三個模型看過並給了逐句改法，原本只有 2 句有此缺口。</a:t>
                      </a:r>
                    </a:p>
                  </a:txBody>
                  <a:tcPr anchor="ctr" marL="100584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A2332"/>
                          </a:solidFill>
                          <a:latin typeface="微軟正黑體"/>
                        </a:rPr>
                        <a:t>模型讀法已回流進標註，違反標註凍結原則</a:t>
                      </a:r>
                    </a:p>
                  </a:txBody>
                  <a:tcPr anchor="ctr" marL="100584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A2332"/>
                          </a:solidFill>
                          <a:latin typeface="微軟正黑體"/>
                        </a:rPr>
                        <a:t>三方意見只用於修準則、不逐句補；此事須寫進論文的資料集章節</a:t>
                      </a:r>
                    </a:p>
                  </a:txBody>
                  <a:tcPr anchor="ctr" marL="100584" marR="73152" marT="27432" marB="27432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A2332"/>
                          </a:solidFill>
                          <a:latin typeface="微軟正黑體"/>
                        </a:rPr>
                        <a:t>受測模型權限</a:t>
                      </a:r>
                    </a:p>
                  </a:txBody>
                  <a:tcPr anchor="ctr" marL="100584" marR="73152" marT="27432" marB="27432">
                    <a:solidFill>
                      <a:srgbClr val="F5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A2332"/>
                          </a:solidFill>
                          <a:latin typeface="微軟正黑體"/>
                        </a:rPr>
                        <a:t>目前金鑰可存取的研究模型全數 403，僅三個模型可用，暫作基礎設施驗證。</a:t>
                      </a:r>
                    </a:p>
                  </a:txBody>
                  <a:tcPr anchor="ctr" marL="100584" marR="73152" marT="27432" marB="27432">
                    <a:solidFill>
                      <a:srgbClr val="F5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A2332"/>
                          </a:solidFill>
                          <a:latin typeface="微軟正黑體"/>
                        </a:rPr>
                        <a:t>跨模型對比實驗（M8）無法執行</a:t>
                      </a:r>
                    </a:p>
                  </a:txBody>
                  <a:tcPr anchor="ctr" marL="100584" marR="73152" marT="27432" marB="27432">
                    <a:solidFill>
                      <a:srgbClr val="F5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A2332"/>
                          </a:solidFill>
                          <a:latin typeface="微軟正黑體"/>
                        </a:rPr>
                        <a:t>向系上申請模型存取權限</a:t>
                      </a:r>
                    </a:p>
                  </a:txBody>
                  <a:tcPr anchor="ctr" marL="100584" marR="73152" marT="27432" marB="27432"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58368" y="5724144"/>
            <a:ext cx="10874959" cy="566928"/>
          </a:xfrm>
          <a:prstGeom prst="roundRect">
            <a:avLst>
              <a:gd name="adj" fmla="val 6000"/>
            </a:avLst>
          </a:prstGeom>
          <a:solidFill>
            <a:srgbClr val="EC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77824" y="5833872"/>
            <a:ext cx="1041775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0A4F57"/>
                </a:solidFill>
                <a:latin typeface="微軟正黑體"/>
              </a:rPr>
              <a:t>硬性 timebox　</a:t>
            </a:r>
            <a:r>
              <a:rPr sz="1100" b="0">
                <a:solidFill>
                  <a:srgbClr val="1A2332"/>
                </a:solidFill>
                <a:latin typeface="微軟正黑體"/>
              </a:rPr>
              <a:t>P2 的資料層若三天內未產出可用資料，即回頭沿用 dev-30 現有設計，不再投入。任一階段的完成定義卡住超過半天，視為設計問題而非實作問題，回頭討論。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E7C86"/>
                </a:solidFill>
                <a:latin typeface="微軟正黑體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A2332"/>
                </a:solidFill>
                <a:latin typeface="微軟正黑體"/>
              </a:rPr>
              <a:t>後續時程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52144"/>
            <a:ext cx="1371600" cy="330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8368" y="1207008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A6B7C"/>
                </a:solidFill>
                <a:latin typeface="微軟正黑體"/>
              </a:rPr>
              <a:t>距 10 月截止約 6 週，估計實際可用工時約 3 週。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3737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8E9EAB"/>
                </a:solidFill>
                <a:latin typeface="微軟正黑體"/>
              </a:rPr>
              <a:t>Cognitive-Core ｜ 進度報告 2026-08-17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18927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8E9EAB"/>
                </a:solidFill>
                <a:latin typeface="微軟正黑體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282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B07212"/>
                </a:solidFill>
                <a:latin typeface="微軟正黑體"/>
              </a:rPr>
              <a:t>P2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5295" y="1728216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1A2332"/>
                </a:solidFill>
                <a:latin typeface="微軟正黑體"/>
              </a:rPr>
              <a:t>資料層：產出 ≥40 筆脈絡恆等三元組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13248" y="1755648"/>
            <a:ext cx="613039" cy="219456"/>
          </a:xfrm>
          <a:prstGeom prst="roundRect">
            <a:avLst>
              <a:gd name="adj" fmla="val 35000"/>
            </a:avLst>
          </a:prstGeom>
          <a:solidFill>
            <a:srgbClr val="B07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832543" y="1728216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A6B7C"/>
                </a:solidFill>
                <a:latin typeface="微軟正黑體"/>
              </a:rPr>
              <a:t>1.5 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90911" y="1728216"/>
            <a:ext cx="1060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B07212"/>
                </a:solidFill>
                <a:latin typeface="微軟正黑體"/>
              </a:rPr>
              <a:t>進行中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1488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E7C86"/>
                </a:solidFill>
                <a:latin typeface="微軟正黑體"/>
              </a:rPr>
              <a:t>P3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5" y="214884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1A2332"/>
                </a:solidFill>
                <a:latin typeface="微軟正黑體"/>
              </a:rPr>
              <a:t>判定層：sense_judge 與人工一致率 ≥85%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26287" y="2176272"/>
            <a:ext cx="204346" cy="219456"/>
          </a:xfrm>
          <a:prstGeom prst="roundRect">
            <a:avLst>
              <a:gd name="adj" fmla="val 35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832543" y="2148840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A6B7C"/>
                </a:solidFill>
                <a:latin typeface="微軟正黑體"/>
              </a:rPr>
              <a:t>0.5 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5694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E7C86"/>
                </a:solidFill>
                <a:latin typeface="微軟正黑體"/>
              </a:rPr>
              <a:t>P4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5295" y="2569464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1A2332"/>
                </a:solidFill>
                <a:latin typeface="微軟正黑體"/>
              </a:rPr>
              <a:t>訊號層：八個訊號各自的 AUC（RQ1）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0634" y="2596896"/>
            <a:ext cx="408693" cy="219456"/>
          </a:xfrm>
          <a:prstGeom prst="roundRect">
            <a:avLst>
              <a:gd name="adj" fmla="val 35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832543" y="2569464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A6B7C"/>
                </a:solidFill>
                <a:latin typeface="微軟正黑體"/>
              </a:rPr>
              <a:t>1 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2990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E7C86"/>
                </a:solidFill>
                <a:latin typeface="微軟正黑體"/>
              </a:rPr>
              <a:t>P5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5" y="299008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1A2332"/>
                </a:solidFill>
                <a:latin typeface="微軟正黑體"/>
              </a:rPr>
              <a:t>Router：成本–準確度前緣曲線（RQ2）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39327" y="3017520"/>
            <a:ext cx="204346" cy="219456"/>
          </a:xfrm>
          <a:prstGeom prst="roundRect">
            <a:avLst>
              <a:gd name="adj" fmla="val 35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832543" y="2990088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A6B7C"/>
                </a:solidFill>
                <a:latin typeface="微軟正黑體"/>
              </a:rPr>
              <a:t>0.5 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34107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A4F57"/>
                </a:solidFill>
                <a:latin typeface="微軟正黑體"/>
              </a:rPr>
              <a:t>P6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5295" y="341071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1A2332"/>
                </a:solidFill>
                <a:latin typeface="微軟正黑體"/>
              </a:rPr>
              <a:t>主實驗：全對照組與主表（關鍵檢查點）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43674" y="3438144"/>
            <a:ext cx="408693" cy="219456"/>
          </a:xfrm>
          <a:prstGeom prst="roundRect">
            <a:avLst>
              <a:gd name="adj" fmla="val 35000"/>
            </a:avLst>
          </a:prstGeom>
          <a:solidFill>
            <a:srgbClr val="0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832543" y="3410712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A6B7C"/>
                </a:solidFill>
                <a:latin typeface="微軟正黑體"/>
              </a:rPr>
              <a:t>1 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90911" y="3410712"/>
            <a:ext cx="1060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A4F57"/>
                </a:solidFill>
                <a:latin typeface="微軟正黑體"/>
              </a:rPr>
              <a:t>檢查點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383133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E7C86"/>
                </a:solidFill>
                <a:latin typeface="微軟正黑體"/>
              </a:rPr>
              <a:t>P7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25295" y="3831336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1A2332"/>
                </a:solidFill>
                <a:latin typeface="微軟正黑體"/>
              </a:rPr>
              <a:t>Demo 介面與記憶模組（RQ3）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52367" y="3858768"/>
            <a:ext cx="408693" cy="219456"/>
          </a:xfrm>
          <a:prstGeom prst="roundRect">
            <a:avLst>
              <a:gd name="adj" fmla="val 35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832543" y="3831336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A6B7C"/>
                </a:solidFill>
                <a:latin typeface="微軟正黑體"/>
              </a:rPr>
              <a:t>1 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4251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8A9AA8"/>
                </a:solidFill>
                <a:latin typeface="微軟正黑體"/>
              </a:rPr>
              <a:t>P8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25295" y="425196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1A2332"/>
                </a:solidFill>
                <a:latin typeface="微軟正黑體"/>
              </a:rPr>
              <a:t>技術報告 20–30 頁與可重現封包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61060" y="4279392"/>
            <a:ext cx="2043466" cy="219456"/>
          </a:xfrm>
          <a:prstGeom prst="roundRect">
            <a:avLst>
              <a:gd name="adj" fmla="val 35000"/>
            </a:avLst>
          </a:prstGeom>
          <a:solidFill>
            <a:srgbClr val="8A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832543" y="4251960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A6B7C"/>
                </a:solidFill>
                <a:latin typeface="微軟正黑體"/>
              </a:rPr>
              <a:t>5 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13248" y="4736592"/>
            <a:ext cx="4291279" cy="12700"/>
          </a:xfrm>
          <a:prstGeom prst="rect">
            <a:avLst/>
          </a:prstGeom>
          <a:solidFill>
            <a:srgbClr val="E4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413248" y="4828032"/>
            <a:ext cx="6028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A6B7C"/>
                </a:solidFill>
                <a:latin typeface="微軟正黑體"/>
              </a:rPr>
              <a:t>合計約 10.5 個工作天（其中 P8 報告撰寫占 5 天）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5248656"/>
            <a:ext cx="5669280" cy="896112"/>
          </a:xfrm>
          <a:prstGeom prst="roundRect">
            <a:avLst>
              <a:gd name="adj" fmla="val 6000"/>
            </a:avLst>
          </a:prstGeom>
          <a:solidFill>
            <a:srgbClr val="F5F8F9"/>
          </a:solidFill>
          <a:ln w="12700">
            <a:solidFill>
              <a:srgbClr val="DA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77824" y="5358384"/>
            <a:ext cx="5212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1A2332"/>
                </a:solidFill>
                <a:latin typeface="微軟正黑體"/>
              </a:rPr>
              <a:t>最近的一步（P2-D2）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5A6B7C"/>
                </a:solidFill>
                <a:latin typeface="微軟正黑體"/>
              </a:rPr>
              <a:t>在 D1 的裁定完成後撰寫 cwn_loader 與 probe_builder，產出 60 筆候選供研究者快篩，並以 length_audit 驗證被測子句長度 AUC = 0.500。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10528" y="5248656"/>
            <a:ext cx="5022799" cy="896112"/>
          </a:xfrm>
          <a:prstGeom prst="roundRect">
            <a:avLst>
              <a:gd name="adj" fmla="val 6000"/>
            </a:avLst>
          </a:prstGeom>
          <a:solidFill>
            <a:srgbClr val="FDF6E9"/>
          </a:solidFill>
          <a:ln w="12700">
            <a:solidFill>
              <a:srgbClr val="EBD9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729983" y="5358384"/>
            <a:ext cx="456559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B07212"/>
                </a:solidFill>
                <a:latin typeface="微軟正黑體"/>
              </a:rPr>
              <a:t>關鍵檢查點：P6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1A2332"/>
                </a:solidFill>
                <a:latin typeface="微軟正黑體"/>
              </a:rPr>
              <a:t>若主實驗顯示本系統在等算力下沒有優於 self-consistency 對照組，即回頭重新設計，而不是繼續堆功能。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51560" y="11887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6FC5CC"/>
                </a:solidFill>
                <a:latin typeface="微軟正黑體"/>
              </a:rPr>
              <a:t>小結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572768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3300" b="1">
                <a:solidFill>
                  <a:srgbClr val="FFFFFF"/>
                </a:solidFill>
                <a:latin typeface="微軟正黑體"/>
              </a:rPr>
              <a:t>架構與方法學已定案，
剩下的是照規格把數據跑出來。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3310128"/>
            <a:ext cx="2011680" cy="330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51560" y="361188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6FC5CC"/>
                </a:solidFill>
                <a:latin typeface="微軟正黑體"/>
              </a:rPr>
              <a:t>已經站穩的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3611880"/>
            <a:ext cx="7589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C8D8E0"/>
                </a:solidFill>
                <a:latin typeface="微軟正黑體"/>
              </a:rPr>
              <a:t>端到端可執行的管線、141 項離線測試、經查證的主資料來源與授權。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36168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6FC5CC"/>
                </a:solidFill>
                <a:latin typeface="微軟正黑體"/>
              </a:rPr>
              <a:t>最有價值的產出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4361688"/>
            <a:ext cx="7589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C8D8E0"/>
                </a:solidFill>
                <a:latin typeface="微軟正黑體"/>
              </a:rPr>
              <a:t>長度混淆的量化揭露，以及據此設計的脈絡恆等三元組協定。這部分不依賴系統成敗，可獨立成立。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111496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6FC5CC"/>
                </a:solidFill>
                <a:latin typeface="微軟正黑體"/>
              </a:rPr>
              <a:t>尚未回答的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5111496"/>
            <a:ext cx="7589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C8D8E0"/>
                </a:solidFill>
                <a:latin typeface="微軟正黑體"/>
              </a:rPr>
              <a:t>三個 RQ 都還沒有主實驗數據；P6 是關鍵檢查點，結果不利就回頭重新設計。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614476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6A7D8C"/>
                </a:solidFill>
                <a:latin typeface="微軟正黑體"/>
              </a:rPr>
              <a:t>文件：docs/研究計畫書.md（合約）｜ docs/技術設計文件.md（施工圖）｜ docs/完整架構與分階段實作路徑 v3（執行規格）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